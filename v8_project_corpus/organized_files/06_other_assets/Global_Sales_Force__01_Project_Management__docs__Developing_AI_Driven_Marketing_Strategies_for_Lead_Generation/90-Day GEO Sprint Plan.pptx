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3709" y="1519303"/>
            <a:ext cx="6936581" cy="660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353" b="1" spc="-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90-Day GEO Sprint Plan</a:t>
            </a:r>
            <a:endParaRPr lang="en-US" sz="4353" dirty="0"/>
          </a:p>
        </p:txBody>
      </p:sp>
      <p:sp>
        <p:nvSpPr>
          <p:cNvPr id="4" name="Text 1"/>
          <p:cNvSpPr/>
          <p:nvPr/>
        </p:nvSpPr>
        <p:spPr>
          <a:xfrm>
            <a:off x="1901130" y="2350824"/>
            <a:ext cx="534173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Dominating AI Search Across All 19 Brands</a:t>
            </a:r>
            <a:endParaRPr lang="en-US" sz="1808" dirty="0"/>
          </a:p>
        </p:txBody>
      </p:sp>
      <p:sp>
        <p:nvSpPr>
          <p:cNvPr id="5" name="Shape 2"/>
          <p:cNvSpPr/>
          <p:nvPr/>
        </p:nvSpPr>
        <p:spPr>
          <a:xfrm>
            <a:off x="2532459" y="3091988"/>
            <a:ext cx="4079081" cy="875109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968228" y="3313444"/>
            <a:ext cx="320754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for: </a:t>
            </a: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 &amp; Justin, Global Sales Force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968228" y="3572405"/>
            <a:ext cx="320754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Date: </a:t>
            </a: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March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Brands, 90 Days, One Goal: Own AI Search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25838"/>
            <a:ext cx="3857625" cy="189309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25838"/>
            <a:ext cx="3857625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421981" y="1125838"/>
            <a:ext cx="7144" cy="18930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3011788"/>
            <a:ext cx="3857625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125838"/>
            <a:ext cx="42863" cy="189309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106" y="1404445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5875" y="1340151"/>
            <a:ext cx="29289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Current Gap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1285875" y="1633045"/>
            <a:ext cx="2928938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Domestic portfolio scores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68/100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International scores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50/100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Discoverability is the critical failure: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47%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all 19 brands. AI engines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literally cannot read the sites.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571500" y="3176095"/>
            <a:ext cx="3857625" cy="13144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06" y="3454701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5875" y="3390407"/>
            <a:ext cx="29289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Market Shift</a:t>
            </a:r>
            <a:endParaRPr lang="en-US" sz="1193" dirty="0"/>
          </a:p>
        </p:txBody>
      </p:sp>
      <p:sp>
        <p:nvSpPr>
          <p:cNvPr id="15" name="Text 10"/>
          <p:cNvSpPr/>
          <p:nvPr/>
        </p:nvSpPr>
        <p:spPr>
          <a:xfrm>
            <a:off x="1285875" y="3683301"/>
            <a:ext cx="29289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40%+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all search queries now go through AI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engines (ChatGPT, Perplexity, Google AI).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search is declining.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4714875" y="1125838"/>
            <a:ext cx="3857625" cy="13144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4714875" y="1125838"/>
            <a:ext cx="3857625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8565356" y="1125838"/>
            <a:ext cx="7144" cy="1314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4714875" y="2433145"/>
            <a:ext cx="3857625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4714875" y="1125838"/>
            <a:ext cx="42863" cy="131445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481" y="1404445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29250" y="1340151"/>
            <a:ext cx="29289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ROI Opportunity</a:t>
            </a:r>
            <a:endParaRPr lang="en-US" sz="1193" dirty="0"/>
          </a:p>
        </p:txBody>
      </p:sp>
      <p:sp>
        <p:nvSpPr>
          <p:cNvPr id="23" name="Text 17"/>
          <p:cNvSpPr/>
          <p:nvPr/>
        </p:nvSpPr>
        <p:spPr>
          <a:xfrm>
            <a:off x="5429250" y="1633045"/>
            <a:ext cx="29289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referrals convert at </a:t>
            </a: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 the rate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traditional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search. Winning the AI recommendation is the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valuable lead source in 2026.</a:t>
            </a:r>
            <a:endParaRPr lang="en-US" sz="942" dirty="0"/>
          </a:p>
        </p:txBody>
      </p:sp>
      <p:sp>
        <p:nvSpPr>
          <p:cNvPr id="24" name="Shape 18"/>
          <p:cNvSpPr/>
          <p:nvPr/>
        </p:nvSpPr>
        <p:spPr>
          <a:xfrm>
            <a:off x="4714875" y="2597451"/>
            <a:ext cx="3857625" cy="189309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3481" y="2876057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29250" y="2811763"/>
            <a:ext cx="29289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12-Week Solution</a:t>
            </a:r>
            <a:endParaRPr lang="en-US" sz="1193" dirty="0"/>
          </a:p>
        </p:txBody>
      </p:sp>
      <p:sp>
        <p:nvSpPr>
          <p:cNvPr id="27" name="Text 20"/>
          <p:cNvSpPr/>
          <p:nvPr/>
        </p:nvSpPr>
        <p:spPr>
          <a:xfrm>
            <a:off x="5429250" y="3104657"/>
            <a:ext cx="2928938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plan fixes the technical foundation, builds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authority, executes Alex's Reddit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vision safely, and measures ROI.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Total Budget: </a:t>
            </a:r>
            <a:r>
              <a:rPr lang="en-US" sz="885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$7,650 - $12,300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all 19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brands.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60034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Complete 90-Day Roadmap at a Glance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002971"/>
            <a:ext cx="1893094" cy="385477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02971"/>
            <a:ext cx="1893094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145846"/>
            <a:ext cx="16073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(WEEKS 1-2)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714375" y="1295865"/>
            <a:ext cx="16073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Foundation</a:t>
            </a:r>
            <a:endParaRPr lang="en-US" sz="987" dirty="0"/>
          </a:p>
        </p:txBody>
      </p:sp>
      <p:sp>
        <p:nvSpPr>
          <p:cNvPr id="8" name="Shape 5"/>
          <p:cNvSpPr/>
          <p:nvPr/>
        </p:nvSpPr>
        <p:spPr>
          <a:xfrm>
            <a:off x="714375" y="1724490"/>
            <a:ext cx="942975" cy="16252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1724490"/>
            <a:ext cx="942975" cy="16252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DEV TEAM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900113" y="2144185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llms.txt on all 19 domains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900113" y="2509912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robots.txt with AI crawler directives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900113" y="2875638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Google Business Profiles on 16 sites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900113" y="3241365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4 critical domains (kerbmoving, ldmovers, etc.)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900113" y="3607091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MovingCompany schema on 7 sites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900113" y="3972818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mobile viewport on usa-autotransport.com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900113" y="4338544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meta descriptions for 7 sites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2607469" y="1002971"/>
            <a:ext cx="1893094" cy="385477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2607469" y="1002971"/>
            <a:ext cx="1893094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2750344" y="1145846"/>
            <a:ext cx="16073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(WEEKS 3-4)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2750344" y="1295865"/>
            <a:ext cx="16073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&amp; Entity Authority</a:t>
            </a:r>
            <a:endParaRPr lang="en-US" sz="987" dirty="0"/>
          </a:p>
        </p:txBody>
      </p:sp>
      <p:sp>
        <p:nvSpPr>
          <p:cNvPr id="21" name="Shape 18"/>
          <p:cNvSpPr/>
          <p:nvPr/>
        </p:nvSpPr>
        <p:spPr>
          <a:xfrm>
            <a:off x="2750344" y="1724490"/>
            <a:ext cx="1193006" cy="16252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2750344" y="1724490"/>
            <a:ext cx="1193006" cy="16252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CONTENT TEAM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2936081" y="2144185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FAQ pages for all 19 brands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2936081" y="2509912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FAQPage schema on all FAQ pages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2936081" y="2875638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 "About Us" pages on 10 sites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2936081" y="3241365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NAP consistency across directories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2936081" y="3607091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Review schema on all sites</a:t>
            </a:r>
            <a:endParaRPr lang="en-US" sz="727" dirty="0"/>
          </a:p>
        </p:txBody>
      </p:sp>
      <p:sp>
        <p:nvSpPr>
          <p:cNvPr id="28" name="Shape 25"/>
          <p:cNvSpPr/>
          <p:nvPr/>
        </p:nvSpPr>
        <p:spPr>
          <a:xfrm>
            <a:off x="4643438" y="1002971"/>
            <a:ext cx="1893094" cy="385477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4643438" y="1002971"/>
            <a:ext cx="1893094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7"/>
          <p:cNvSpPr/>
          <p:nvPr/>
        </p:nvSpPr>
        <p:spPr>
          <a:xfrm>
            <a:off x="4786313" y="1145846"/>
            <a:ext cx="16073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 (WEEKS 5-8)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4786313" y="1295865"/>
            <a:ext cx="16073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Engagement</a:t>
            </a:r>
            <a:endParaRPr lang="en-US" sz="987" dirty="0"/>
          </a:p>
        </p:txBody>
      </p:sp>
      <p:sp>
        <p:nvSpPr>
          <p:cNvPr id="32" name="Shape 29"/>
          <p:cNvSpPr/>
          <p:nvPr/>
        </p:nvSpPr>
        <p:spPr>
          <a:xfrm>
            <a:off x="4786313" y="1724490"/>
            <a:ext cx="1037630" cy="16252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4786313" y="1724490"/>
            <a:ext cx="1037630" cy="16252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SALES TEAM</a:t>
            </a:r>
            <a:endParaRPr lang="en-US" sz="584" dirty="0"/>
          </a:p>
        </p:txBody>
      </p:sp>
      <p:sp>
        <p:nvSpPr>
          <p:cNvPr id="34" name="Text 31"/>
          <p:cNvSpPr/>
          <p:nvPr/>
        </p:nvSpPr>
        <p:spPr>
          <a:xfrm>
            <a:off x="4972050" y="2144185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3-5 Reddit accounts for team members</a:t>
            </a:r>
            <a:endParaRPr lang="en-US" sz="727" dirty="0"/>
          </a:p>
        </p:txBody>
      </p:sp>
      <p:sp>
        <p:nvSpPr>
          <p:cNvPr id="35" name="Text 32"/>
          <p:cNvSpPr/>
          <p:nvPr/>
        </p:nvSpPr>
        <p:spPr>
          <a:xfrm>
            <a:off x="4972050" y="2509912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FTC compliance training</a:t>
            </a:r>
            <a:endParaRPr lang="en-US" sz="727" dirty="0"/>
          </a:p>
        </p:txBody>
      </p:sp>
      <p:sp>
        <p:nvSpPr>
          <p:cNvPr id="36" name="Text 33"/>
          <p:cNvSpPr/>
          <p:nvPr/>
        </p:nvSpPr>
        <p:spPr>
          <a:xfrm>
            <a:off x="4972050" y="2875638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 100+ karma on each account</a:t>
            </a:r>
            <a:endParaRPr lang="en-US" sz="727" dirty="0"/>
          </a:p>
        </p:txBody>
      </p:sp>
      <p:sp>
        <p:nvSpPr>
          <p:cNvPr id="37" name="Text 34"/>
          <p:cNvSpPr/>
          <p:nvPr/>
        </p:nvSpPr>
        <p:spPr>
          <a:xfrm>
            <a:off x="4972050" y="3241365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20+ helpful comments per week</a:t>
            </a:r>
            <a:endParaRPr lang="en-US" sz="727" dirty="0"/>
          </a:p>
        </p:txBody>
      </p:sp>
      <p:sp>
        <p:nvSpPr>
          <p:cNvPr id="38" name="Text 35"/>
          <p:cNvSpPr/>
          <p:nvPr/>
        </p:nvSpPr>
        <p:spPr>
          <a:xfrm>
            <a:off x="4972050" y="3607091"/>
            <a:ext cx="9429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1 AMA session</a:t>
            </a:r>
            <a:endParaRPr lang="en-US" sz="727" dirty="0"/>
          </a:p>
        </p:txBody>
      </p:sp>
      <p:sp>
        <p:nvSpPr>
          <p:cNvPr id="39" name="Shape 36"/>
          <p:cNvSpPr/>
          <p:nvPr/>
        </p:nvSpPr>
        <p:spPr>
          <a:xfrm>
            <a:off x="6679406" y="1002971"/>
            <a:ext cx="1893094" cy="385477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679406" y="1002971"/>
            <a:ext cx="1893094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8"/>
          <p:cNvSpPr/>
          <p:nvPr/>
        </p:nvSpPr>
        <p:spPr>
          <a:xfrm>
            <a:off x="6822281" y="1145846"/>
            <a:ext cx="16073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 (WEEKS 9-12)</a:t>
            </a:r>
            <a:endParaRPr lang="en-US" sz="683" dirty="0"/>
          </a:p>
        </p:txBody>
      </p:sp>
      <p:sp>
        <p:nvSpPr>
          <p:cNvPr id="42" name="Text 39"/>
          <p:cNvSpPr/>
          <p:nvPr/>
        </p:nvSpPr>
        <p:spPr>
          <a:xfrm>
            <a:off x="6822281" y="1295865"/>
            <a:ext cx="16073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Measurement &amp; Scaling</a:t>
            </a:r>
            <a:endParaRPr lang="en-US" sz="987" dirty="0"/>
          </a:p>
        </p:txBody>
      </p:sp>
      <p:sp>
        <p:nvSpPr>
          <p:cNvPr id="43" name="Shape 40"/>
          <p:cNvSpPr/>
          <p:nvPr/>
        </p:nvSpPr>
        <p:spPr>
          <a:xfrm>
            <a:off x="6822281" y="1724490"/>
            <a:ext cx="1291233" cy="16252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6822281" y="1724490"/>
            <a:ext cx="1291233" cy="16252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MARKETING TEAM</a:t>
            </a:r>
            <a:endParaRPr lang="en-US" sz="584" dirty="0"/>
          </a:p>
        </p:txBody>
      </p:sp>
      <p:sp>
        <p:nvSpPr>
          <p:cNvPr id="45" name="Text 42"/>
          <p:cNvSpPr/>
          <p:nvPr/>
        </p:nvSpPr>
        <p:spPr>
          <a:xfrm>
            <a:off x="7008019" y="2144185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AI Share of Voice tracking</a:t>
            </a:r>
            <a:endParaRPr lang="en-US" sz="727" dirty="0"/>
          </a:p>
        </p:txBody>
      </p:sp>
      <p:sp>
        <p:nvSpPr>
          <p:cNvPr id="46" name="Text 43"/>
          <p:cNvSpPr/>
          <p:nvPr/>
        </p:nvSpPr>
        <p:spPr>
          <a:xfrm>
            <a:off x="7008019" y="2509912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5-minute lead response SLA</a:t>
            </a:r>
            <a:endParaRPr lang="en-US" sz="727" dirty="0"/>
          </a:p>
        </p:txBody>
      </p:sp>
      <p:sp>
        <p:nvSpPr>
          <p:cNvPr id="47" name="Text 44"/>
          <p:cNvSpPr/>
          <p:nvPr/>
        </p:nvSpPr>
        <p:spPr>
          <a:xfrm>
            <a:off x="7008019" y="2875638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1 original research report</a:t>
            </a:r>
            <a:endParaRPr lang="en-US" sz="727" dirty="0"/>
          </a:p>
        </p:txBody>
      </p:sp>
      <p:sp>
        <p:nvSpPr>
          <p:cNvPr id="48" name="Text 45"/>
          <p:cNvSpPr/>
          <p:nvPr/>
        </p:nvSpPr>
        <p:spPr>
          <a:xfrm>
            <a:off x="7008019" y="3241365"/>
            <a:ext cx="14216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 90-day review with Alex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90928"/>
            <a:ext cx="7715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3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• WEEKS 1-2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714375" y="540972"/>
            <a:ext cx="642937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All 19 Sites Visible to AI Engines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714375" y="1975414"/>
            <a:ext cx="4371975" cy="771525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Currently, AI engines cannot properly read most of </a:t>
            </a: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portfolio. </a:t>
            </a:r>
            <a:r>
              <a:rPr lang="en-US" sz="1193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of 19 sites</a:t>
            </a: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missing llms.txt </a:t>
            </a: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files, and </a:t>
            </a:r>
            <a:r>
              <a:rPr lang="en-US" sz="1193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of 19</a:t>
            </a: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lack explicit AI crawler directives.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714375" y="2918389"/>
            <a:ext cx="4371975" cy="771525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domains are in critical condition and actively losing leads: kerbmoving, ldmovers, shepherdmovers, and sunsetmoving.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514975" y="1975414"/>
            <a:ext cx="2914650" cy="966192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86425" y="2154008"/>
            <a:ext cx="2571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686425" y="2348675"/>
            <a:ext cx="25717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Development / Technical SEO Team</a:t>
            </a:r>
            <a:endParaRPr lang="en-US" sz="1193" dirty="0"/>
          </a:p>
        </p:txBody>
      </p:sp>
      <p:sp>
        <p:nvSpPr>
          <p:cNvPr id="10" name="Shape 7"/>
          <p:cNvSpPr/>
          <p:nvPr/>
        </p:nvSpPr>
        <p:spPr>
          <a:xfrm>
            <a:off x="5514975" y="3077338"/>
            <a:ext cx="2914650" cy="75902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86425" y="3255931"/>
            <a:ext cx="2571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ALLOCATION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5686425" y="3450599"/>
            <a:ext cx="2571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$3,500 - $5,500 (One-time)</a:t>
            </a:r>
            <a:endParaRPr lang="en-US" sz="1193" dirty="0"/>
          </a:p>
        </p:txBody>
      </p:sp>
      <p:sp>
        <p:nvSpPr>
          <p:cNvPr id="13" name="Shape 10"/>
          <p:cNvSpPr/>
          <p:nvPr/>
        </p:nvSpPr>
        <p:spPr>
          <a:xfrm>
            <a:off x="5514975" y="3972092"/>
            <a:ext cx="2914650" cy="96619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514975" y="3972092"/>
            <a:ext cx="291465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8422481" y="3972092"/>
            <a:ext cx="7144" cy="966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5514975" y="4931141"/>
            <a:ext cx="291465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5514975" y="3972092"/>
            <a:ext cx="28575" cy="9661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5686425" y="4150686"/>
            <a:ext cx="2571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KPI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5686425" y="4345353"/>
            <a:ext cx="25717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Technical Compliance &amp; Successful GPTBot Crawls</a:t>
            </a:r>
            <a:endParaRPr lang="en-US" sz="119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60034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1: Deploy AI Signals Across All 19 Domains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074409"/>
            <a:ext cx="4629150" cy="364046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71563" y="1288721"/>
            <a:ext cx="39147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1.1: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Create and upload `llms.txt` files to all 19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domains</a:t>
            </a:r>
            <a:endParaRPr lang="en-US" sz="987" dirty="0"/>
          </a:p>
        </p:txBody>
      </p:sp>
      <p:sp>
        <p:nvSpPr>
          <p:cNvPr id="6" name="Shape 3"/>
          <p:cNvSpPr/>
          <p:nvPr/>
        </p:nvSpPr>
        <p:spPr>
          <a:xfrm>
            <a:off x="1071563" y="1745921"/>
            <a:ext cx="639366" cy="178594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71563" y="1745921"/>
            <a:ext cx="639366" cy="17859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TEAM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1071563" y="2067390"/>
            <a:ext cx="39147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1.2: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Update `robots.txt` to allow GPTBot, ClaudeBot,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PerplexityBot on all 19 domains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1071563" y="2524590"/>
            <a:ext cx="639366" cy="178594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71563" y="2524590"/>
            <a:ext cx="639366" cy="17859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TEAM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1071563" y="2846059"/>
            <a:ext cx="39147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1.3: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 Google Business Profile links to footer of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sites (13 domestic, 3 intl)</a:t>
            </a:r>
            <a:endParaRPr lang="en-US" sz="987" dirty="0"/>
          </a:p>
        </p:txBody>
      </p:sp>
      <p:sp>
        <p:nvSpPr>
          <p:cNvPr id="12" name="Shape 9"/>
          <p:cNvSpPr/>
          <p:nvPr/>
        </p:nvSpPr>
        <p:spPr>
          <a:xfrm>
            <a:off x="1071563" y="3303259"/>
            <a:ext cx="639366" cy="178594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071563" y="3303259"/>
            <a:ext cx="639366" cy="17859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TEAM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1071563" y="3624728"/>
            <a:ext cx="39147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1.4: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Fix 4 critical domains (Un-park kerbmoving, fix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ldmovers redirect, fix shepherdmovers crashing, fix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sunsetmoving HTML)</a:t>
            </a:r>
            <a:endParaRPr lang="en-US" sz="987" dirty="0"/>
          </a:p>
        </p:txBody>
      </p:sp>
      <p:sp>
        <p:nvSpPr>
          <p:cNvPr id="15" name="Shape 12"/>
          <p:cNvSpPr/>
          <p:nvPr/>
        </p:nvSpPr>
        <p:spPr>
          <a:xfrm>
            <a:off x="1071563" y="4281953"/>
            <a:ext cx="639366" cy="178594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071563" y="4281953"/>
            <a:ext cx="639366" cy="17859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TEAM</a:t>
            </a:r>
            <a:endParaRPr lang="en-US" sz="683" dirty="0"/>
          </a:p>
        </p:txBody>
      </p:sp>
      <p:sp>
        <p:nvSpPr>
          <p:cNvPr id="17" name="Shape 14"/>
          <p:cNvSpPr/>
          <p:nvPr/>
        </p:nvSpPr>
        <p:spPr>
          <a:xfrm>
            <a:off x="5486400" y="1074409"/>
            <a:ext cx="3086100" cy="1167612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0" y="1074409"/>
            <a:ext cx="42863" cy="11676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5700713" y="1288721"/>
            <a:ext cx="26574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OUTCOME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5700713" y="1547682"/>
            <a:ext cx="26574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19 sites allow AI crawlers; 4 critical domains functional.</a:t>
            </a:r>
            <a:endParaRPr lang="en-US" sz="1193" dirty="0"/>
          </a:p>
        </p:txBody>
      </p:sp>
      <p:sp>
        <p:nvSpPr>
          <p:cNvPr id="21" name="Shape 18"/>
          <p:cNvSpPr/>
          <p:nvPr/>
        </p:nvSpPr>
        <p:spPr>
          <a:xfrm>
            <a:off x="5486400" y="2456334"/>
            <a:ext cx="3086100" cy="20002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064" y="2599209"/>
            <a:ext cx="1968773" cy="1714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2: Deploy Schema Markup and Fix Remaining Gaps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342900" y="1291568"/>
            <a:ext cx="4186238" cy="106575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1525" y="1377293"/>
            <a:ext cx="2596753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2.1: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MovingCompany + Organization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JSON-LD schema on 7 sites (4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domestic, 3 intl)</a:t>
            </a:r>
            <a:endParaRPr lang="en-US" sz="1090" dirty="0"/>
          </a:p>
        </p:txBody>
      </p:sp>
      <p:sp>
        <p:nvSpPr>
          <p:cNvPr id="6" name="Shape 3"/>
          <p:cNvSpPr/>
          <p:nvPr/>
        </p:nvSpPr>
        <p:spPr>
          <a:xfrm>
            <a:off x="3539728" y="1698538"/>
            <a:ext cx="846534" cy="237530"/>
          </a:xfrm>
          <a:prstGeom prst="rect">
            <a:avLst/>
          </a:prstGeom>
          <a:solidFill>
            <a:srgbClr val="10B981">
              <a:alpha val="15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39728" y="1698538"/>
            <a:ext cx="846534" cy="23753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TEAM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4614863" y="1291568"/>
            <a:ext cx="4186238" cy="84575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43488" y="1377293"/>
            <a:ext cx="2596753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2.2: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Fix missing mobile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viewport meta tag on usa-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autotransport.com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7811691" y="1588536"/>
            <a:ext cx="846534" cy="237530"/>
          </a:xfrm>
          <a:prstGeom prst="rect">
            <a:avLst/>
          </a:prstGeom>
          <a:solidFill>
            <a:srgbClr val="10B981">
              <a:alpha val="15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1691" y="1588536"/>
            <a:ext cx="846534" cy="23753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TEAM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342900" y="2428763"/>
            <a:ext cx="4186238" cy="84575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1525" y="2514488"/>
            <a:ext cx="2235994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2.3: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Write and deploy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descriptions for 7 sites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them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3178969" y="2725731"/>
            <a:ext cx="1207294" cy="237530"/>
          </a:xfrm>
          <a:prstGeom prst="rect">
            <a:avLst/>
          </a:prstGeom>
          <a:solidFill>
            <a:srgbClr val="F59E0B">
              <a:alpha val="15000"/>
            </a:srgbClr>
          </a:solidFill>
          <a:ln w="9144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78969" y="2725731"/>
            <a:ext cx="1207294" cy="23753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TEAM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4614863" y="2428763"/>
            <a:ext cx="4186238" cy="845753"/>
          </a:xfrm>
          <a:prstGeom prst="rect">
            <a:avLst/>
          </a:prstGeom>
          <a:solidFill>
            <a:srgbClr val="3B82F6">
              <a:alpha val="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614863" y="2428763"/>
            <a:ext cx="4186238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8793956" y="2428763"/>
            <a:ext cx="7144" cy="8457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614863" y="3267373"/>
            <a:ext cx="4186238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4614863" y="2428763"/>
            <a:ext cx="28575" cy="84575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5043488" y="2514488"/>
            <a:ext cx="2596753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Check: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Verify all llms.txt files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200 status across 19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domains</a:t>
            </a:r>
            <a:endParaRPr lang="en-US" sz="1090" dirty="0"/>
          </a:p>
        </p:txBody>
      </p:sp>
      <p:sp>
        <p:nvSpPr>
          <p:cNvPr id="22" name="Shape 19"/>
          <p:cNvSpPr/>
          <p:nvPr/>
        </p:nvSpPr>
        <p:spPr>
          <a:xfrm>
            <a:off x="7811691" y="2725731"/>
            <a:ext cx="846534" cy="237530"/>
          </a:xfrm>
          <a:prstGeom prst="rect">
            <a:avLst/>
          </a:prstGeom>
          <a:solidFill>
            <a:srgbClr val="10B981">
              <a:alpha val="15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11691" y="2725731"/>
            <a:ext cx="846534" cy="23753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TEAM</a:t>
            </a:r>
            <a:endParaRPr lang="en-US" sz="784" dirty="0"/>
          </a:p>
        </p:txBody>
      </p:sp>
      <p:sp>
        <p:nvSpPr>
          <p:cNvPr id="24" name="Shape 21"/>
          <p:cNvSpPr/>
          <p:nvPr/>
        </p:nvSpPr>
        <p:spPr>
          <a:xfrm>
            <a:off x="342900" y="3345954"/>
            <a:ext cx="4186238" cy="845753"/>
          </a:xfrm>
          <a:prstGeom prst="rect">
            <a:avLst/>
          </a:prstGeom>
          <a:solidFill>
            <a:srgbClr val="3B82F6">
              <a:alpha val="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342900" y="3345954"/>
            <a:ext cx="4186238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4521994" y="3345954"/>
            <a:ext cx="7144" cy="8457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342900" y="4184563"/>
            <a:ext cx="4186238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342900" y="3345954"/>
            <a:ext cx="28575" cy="84575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771525" y="3431679"/>
            <a:ext cx="2596753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Check: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Verify robots.txt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AI crawler directives on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19 domains</a:t>
            </a:r>
            <a:endParaRPr lang="en-US" sz="1090" dirty="0"/>
          </a:p>
        </p:txBody>
      </p:sp>
      <p:sp>
        <p:nvSpPr>
          <p:cNvPr id="30" name="Shape 27"/>
          <p:cNvSpPr/>
          <p:nvPr/>
        </p:nvSpPr>
        <p:spPr>
          <a:xfrm>
            <a:off x="3539728" y="3642922"/>
            <a:ext cx="846534" cy="237530"/>
          </a:xfrm>
          <a:prstGeom prst="rect">
            <a:avLst/>
          </a:prstGeom>
          <a:solidFill>
            <a:srgbClr val="10B981">
              <a:alpha val="15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39728" y="3642922"/>
            <a:ext cx="846534" cy="23753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TEAM</a:t>
            </a:r>
            <a:endParaRPr lang="en-US" sz="784" dirty="0"/>
          </a:p>
        </p:txBody>
      </p:sp>
      <p:sp>
        <p:nvSpPr>
          <p:cNvPr id="32" name="Shape 29"/>
          <p:cNvSpPr/>
          <p:nvPr/>
        </p:nvSpPr>
        <p:spPr>
          <a:xfrm>
            <a:off x="4614863" y="3345954"/>
            <a:ext cx="4186238" cy="625748"/>
          </a:xfrm>
          <a:prstGeom prst="rect">
            <a:avLst/>
          </a:prstGeom>
          <a:solidFill>
            <a:srgbClr val="3B82F6">
              <a:alpha val="5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614863" y="3345954"/>
            <a:ext cx="4186238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1"/>
          <p:cNvSpPr/>
          <p:nvPr/>
        </p:nvSpPr>
        <p:spPr>
          <a:xfrm>
            <a:off x="8793956" y="3345954"/>
            <a:ext cx="7144" cy="6257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2"/>
          <p:cNvSpPr/>
          <p:nvPr/>
        </p:nvSpPr>
        <p:spPr>
          <a:xfrm>
            <a:off x="4614863" y="3964558"/>
            <a:ext cx="4186238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3"/>
          <p:cNvSpPr/>
          <p:nvPr/>
        </p:nvSpPr>
        <p:spPr>
          <a:xfrm>
            <a:off x="4614863" y="3345954"/>
            <a:ext cx="28575" cy="6257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43488" y="3431679"/>
            <a:ext cx="2596753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Check: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Run Google Rich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Test on all 19 homepages</a:t>
            </a:r>
            <a:endParaRPr lang="en-US" sz="1090" dirty="0"/>
          </a:p>
        </p:txBody>
      </p:sp>
      <p:sp>
        <p:nvSpPr>
          <p:cNvPr id="38" name="Shape 35"/>
          <p:cNvSpPr/>
          <p:nvPr/>
        </p:nvSpPr>
        <p:spPr>
          <a:xfrm>
            <a:off x="7811691" y="3532919"/>
            <a:ext cx="846534" cy="237530"/>
          </a:xfrm>
          <a:prstGeom prst="rect">
            <a:avLst/>
          </a:prstGeom>
          <a:solidFill>
            <a:srgbClr val="10B981">
              <a:alpha val="15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11691" y="3532919"/>
            <a:ext cx="846534" cy="23753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TEAM</a:t>
            </a:r>
            <a:endParaRPr lang="en-US" sz="784" dirty="0"/>
          </a:p>
        </p:txBody>
      </p:sp>
      <p:sp>
        <p:nvSpPr>
          <p:cNvPr id="40" name="Shape 37"/>
          <p:cNvSpPr/>
          <p:nvPr/>
        </p:nvSpPr>
        <p:spPr>
          <a:xfrm>
            <a:off x="342900" y="4348869"/>
            <a:ext cx="8458200" cy="464344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342900" y="4348869"/>
            <a:ext cx="57150" cy="4643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39"/>
          <p:cNvSpPr/>
          <p:nvPr/>
        </p:nvSpPr>
        <p:spPr>
          <a:xfrm>
            <a:off x="485775" y="4494423"/>
            <a:ext cx="165556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OUTCOME</a:t>
            </a:r>
            <a:endParaRPr lang="en-US" sz="987" dirty="0"/>
          </a:p>
        </p:txBody>
      </p:sp>
      <p:sp>
        <p:nvSpPr>
          <p:cNvPr id="43" name="Text 40"/>
          <p:cNvSpPr/>
          <p:nvPr/>
        </p:nvSpPr>
        <p:spPr>
          <a:xfrm>
            <a:off x="2255639" y="4477457"/>
            <a:ext cx="601146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complete. 100% technical GEO compliance across all 19 brands.</a:t>
            </a:r>
            <a:endParaRPr lang="en-US" sz="119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28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• WEEKS 3-4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571500" y="750094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Content AI Engines Pull Answers From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571500" y="2272159"/>
            <a:ext cx="342900" cy="34290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357884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7275" y="2272159"/>
            <a:ext cx="3644624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engines generate recommendations from </a:t>
            </a: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structured, factual content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They do not read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fluff.</a:t>
            </a:r>
            <a:endParaRPr lang="en-US" sz="1159" dirty="0"/>
          </a:p>
        </p:txBody>
      </p:sp>
      <p:sp>
        <p:nvSpPr>
          <p:cNvPr id="8" name="Shape 4"/>
          <p:cNvSpPr/>
          <p:nvPr/>
        </p:nvSpPr>
        <p:spPr>
          <a:xfrm>
            <a:off x="571500" y="3193703"/>
            <a:ext cx="342900" cy="34290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3279428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7275" y="3193703"/>
            <a:ext cx="364462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of 19 sites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lack FAQ sections — the #1 content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AI engines extract for direct answers.</a:t>
            </a:r>
            <a:endParaRPr lang="en-US" sz="1159" dirty="0"/>
          </a:p>
        </p:txBody>
      </p:sp>
      <p:sp>
        <p:nvSpPr>
          <p:cNvPr id="11" name="Shape 6"/>
          <p:cNvSpPr/>
          <p:nvPr/>
        </p:nvSpPr>
        <p:spPr>
          <a:xfrm>
            <a:off x="571500" y="3879503"/>
            <a:ext cx="342900" cy="34290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94" y="3965228"/>
            <a:ext cx="214313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7275" y="3879503"/>
            <a:ext cx="3644624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of 19 sites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lack "About Us" pages with real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bios — a critical trust signal for Entity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Authority.</a:t>
            </a:r>
            <a:endParaRPr lang="en-US" sz="1159" dirty="0"/>
          </a:p>
        </p:txBody>
      </p:sp>
      <p:sp>
        <p:nvSpPr>
          <p:cNvPr id="14" name="Shape 8"/>
          <p:cNvSpPr/>
          <p:nvPr/>
        </p:nvSpPr>
        <p:spPr>
          <a:xfrm>
            <a:off x="5130524" y="1858770"/>
            <a:ext cx="3441976" cy="79186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5130524" y="1858770"/>
            <a:ext cx="3441976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0"/>
          <p:cNvSpPr/>
          <p:nvPr/>
        </p:nvSpPr>
        <p:spPr>
          <a:xfrm>
            <a:off x="8565356" y="1858770"/>
            <a:ext cx="7144" cy="7918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1"/>
          <p:cNvSpPr/>
          <p:nvPr/>
        </p:nvSpPr>
        <p:spPr>
          <a:xfrm>
            <a:off x="5130524" y="2643494"/>
            <a:ext cx="3441976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2"/>
          <p:cNvSpPr/>
          <p:nvPr/>
        </p:nvSpPr>
        <p:spPr>
          <a:xfrm>
            <a:off x="5130524" y="1858770"/>
            <a:ext cx="42863" cy="7918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3"/>
          <p:cNvSpPr/>
          <p:nvPr/>
        </p:nvSpPr>
        <p:spPr>
          <a:xfrm>
            <a:off x="5344837" y="2030220"/>
            <a:ext cx="301335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784" dirty="0"/>
          </a:p>
        </p:txBody>
      </p:sp>
      <p:sp>
        <p:nvSpPr>
          <p:cNvPr id="20" name="Text 14"/>
          <p:cNvSpPr/>
          <p:nvPr/>
        </p:nvSpPr>
        <p:spPr>
          <a:xfrm>
            <a:off x="5344837" y="2224887"/>
            <a:ext cx="301335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Team / SEO Team</a:t>
            </a:r>
            <a:endParaRPr lang="en-US" sz="1193" dirty="0"/>
          </a:p>
        </p:txBody>
      </p:sp>
      <p:sp>
        <p:nvSpPr>
          <p:cNvPr id="21" name="Shape 15"/>
          <p:cNvSpPr/>
          <p:nvPr/>
        </p:nvSpPr>
        <p:spPr>
          <a:xfrm>
            <a:off x="5130524" y="2779226"/>
            <a:ext cx="3441976" cy="79186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5130524" y="2779226"/>
            <a:ext cx="3441976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8565356" y="2779226"/>
            <a:ext cx="7144" cy="7918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5130524" y="3563950"/>
            <a:ext cx="3441976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5130524" y="2779226"/>
            <a:ext cx="42863" cy="7918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0"/>
          <p:cNvSpPr/>
          <p:nvPr/>
        </p:nvSpPr>
        <p:spPr>
          <a:xfrm>
            <a:off x="5344837" y="2950676"/>
            <a:ext cx="301335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 BUDGET</a:t>
            </a:r>
            <a:endParaRPr lang="en-US" sz="784" dirty="0"/>
          </a:p>
        </p:txBody>
      </p:sp>
      <p:sp>
        <p:nvSpPr>
          <p:cNvPr id="27" name="Text 21"/>
          <p:cNvSpPr/>
          <p:nvPr/>
        </p:nvSpPr>
        <p:spPr>
          <a:xfrm>
            <a:off x="5344837" y="3145343"/>
            <a:ext cx="301335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$4,000 - $6,500 </a:t>
            </a: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(One-time)</a:t>
            </a:r>
            <a:endParaRPr lang="en-US" sz="1193" dirty="0"/>
          </a:p>
        </p:txBody>
      </p:sp>
      <p:sp>
        <p:nvSpPr>
          <p:cNvPr id="28" name="Shape 22"/>
          <p:cNvSpPr/>
          <p:nvPr/>
        </p:nvSpPr>
        <p:spPr>
          <a:xfrm>
            <a:off x="5130524" y="3699681"/>
            <a:ext cx="3441976" cy="1271894"/>
          </a:xfrm>
          <a:prstGeom prst="rect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5130524" y="3699681"/>
            <a:ext cx="3441976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4"/>
          <p:cNvSpPr/>
          <p:nvPr/>
        </p:nvSpPr>
        <p:spPr>
          <a:xfrm>
            <a:off x="8565356" y="3699681"/>
            <a:ext cx="7144" cy="12718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5"/>
          <p:cNvSpPr/>
          <p:nvPr/>
        </p:nvSpPr>
        <p:spPr>
          <a:xfrm>
            <a:off x="5130524" y="4964432"/>
            <a:ext cx="3441976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6"/>
          <p:cNvSpPr/>
          <p:nvPr/>
        </p:nvSpPr>
        <p:spPr>
          <a:xfrm>
            <a:off x="5130524" y="3699681"/>
            <a:ext cx="42863" cy="127189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27"/>
          <p:cNvSpPr/>
          <p:nvPr/>
        </p:nvSpPr>
        <p:spPr>
          <a:xfrm>
            <a:off x="5344837" y="3871131"/>
            <a:ext cx="301335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KPI</a:t>
            </a:r>
            <a:endParaRPr lang="en-US" sz="784" dirty="0"/>
          </a:p>
        </p:txBody>
      </p:sp>
      <p:sp>
        <p:nvSpPr>
          <p:cNvPr id="34" name="Text 28"/>
          <p:cNvSpPr/>
          <p:nvPr/>
        </p:nvSpPr>
        <p:spPr>
          <a:xfrm>
            <a:off x="5344837" y="4065798"/>
            <a:ext cx="3013351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FAQ pages live; 19 About Us pages complete; improved Content Quality scores.</a:t>
            </a:r>
            <a:endParaRPr lang="en-US" sz="119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3: Create Structured FAQ Pages for All 19 Brands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255849"/>
            <a:ext cx="4672013" cy="3544751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0125" y="1416583"/>
            <a:ext cx="5357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3.1: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1535906" y="1416583"/>
            <a:ext cx="30521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comprehensive FAQ pages for all 19 brands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1000125" y="1416583"/>
            <a:ext cx="4089797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(pricing, logistics, insurance, routes).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2830711" y="1595177"/>
            <a:ext cx="928688" cy="207169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830711" y="1595177"/>
            <a:ext cx="928688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TEAM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1000125" y="1934505"/>
            <a:ext cx="6107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3.1a: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1610916" y="1934505"/>
            <a:ext cx="31450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international-specific FAQs for 5 intl brands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1000125" y="2127386"/>
            <a:ext cx="26199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(customs, shipping times, documentation).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3705820" y="2113099"/>
            <a:ext cx="928688" cy="207169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3705820" y="2113099"/>
            <a:ext cx="928688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TEAM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1000125" y="2452427"/>
            <a:ext cx="5732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3.2: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1573411" y="2452427"/>
            <a:ext cx="31968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FAQPage JSON-LD schema on all 19 FAQ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1000125" y="2645308"/>
            <a:ext cx="4464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pages.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1532334" y="2631021"/>
            <a:ext cx="639366" cy="207169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532334" y="2631021"/>
            <a:ext cx="639366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TEAM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1000125" y="2970349"/>
            <a:ext cx="571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3.3: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1571625" y="2970349"/>
            <a:ext cx="33986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and reformat homepage content into claim-based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1000125" y="3163230"/>
            <a:ext cx="19305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statements with verifiable data.</a:t>
            </a:r>
            <a:endParaRPr lang="en-US" sz="942" dirty="0"/>
          </a:p>
        </p:txBody>
      </p:sp>
      <p:sp>
        <p:nvSpPr>
          <p:cNvPr id="23" name="Shape 20"/>
          <p:cNvSpPr/>
          <p:nvPr/>
        </p:nvSpPr>
        <p:spPr>
          <a:xfrm>
            <a:off x="3016448" y="3148943"/>
            <a:ext cx="928688" cy="207169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3016448" y="3148943"/>
            <a:ext cx="928688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TEAM</a:t>
            </a:r>
            <a:endParaRPr lang="en-US" sz="683" dirty="0"/>
          </a:p>
        </p:txBody>
      </p:sp>
      <p:sp>
        <p:nvSpPr>
          <p:cNvPr id="25" name="Shape 22"/>
          <p:cNvSpPr/>
          <p:nvPr/>
        </p:nvSpPr>
        <p:spPr>
          <a:xfrm>
            <a:off x="714375" y="3541849"/>
            <a:ext cx="4386263" cy="575072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714375" y="3541849"/>
            <a:ext cx="28575" cy="575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1085850" y="3645433"/>
            <a:ext cx="6661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Check: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1752005" y="3645433"/>
            <a:ext cx="29592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FAQ schema using Google Rich Results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4711303" y="3645433"/>
            <a:ext cx="2946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Test.</a:t>
            </a:r>
            <a:endParaRPr lang="en-US" sz="942" dirty="0"/>
          </a:p>
        </p:txBody>
      </p:sp>
      <p:sp>
        <p:nvSpPr>
          <p:cNvPr id="30" name="Shape 27"/>
          <p:cNvSpPr/>
          <p:nvPr/>
        </p:nvSpPr>
        <p:spPr>
          <a:xfrm>
            <a:off x="1171575" y="3824027"/>
            <a:ext cx="639366" cy="207169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171575" y="3824027"/>
            <a:ext cx="639366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TEAM</a:t>
            </a:r>
            <a:endParaRPr lang="en-US" sz="683" dirty="0"/>
          </a:p>
        </p:txBody>
      </p:sp>
      <p:sp>
        <p:nvSpPr>
          <p:cNvPr id="32" name="Shape 29"/>
          <p:cNvSpPr/>
          <p:nvPr/>
        </p:nvSpPr>
        <p:spPr>
          <a:xfrm>
            <a:off x="5457825" y="1255849"/>
            <a:ext cx="3114675" cy="1221581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5457825" y="1255849"/>
            <a:ext cx="42863" cy="122158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1416583"/>
            <a:ext cx="192881" cy="17145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879306" y="1398724"/>
            <a:ext cx="159127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Outcome</a:t>
            </a:r>
            <a:endParaRPr lang="en-US" sz="1193" dirty="0"/>
          </a:p>
        </p:txBody>
      </p:sp>
      <p:sp>
        <p:nvSpPr>
          <p:cNvPr id="36" name="Text 32"/>
          <p:cNvSpPr/>
          <p:nvPr/>
        </p:nvSpPr>
        <p:spPr>
          <a:xfrm>
            <a:off x="5600700" y="1691618"/>
            <a:ext cx="28289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FAQ pages live and indexed; AI engines can extract structured answers directly from our sites.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5457825" y="2620305"/>
            <a:ext cx="3114675" cy="171628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00700" y="2763180"/>
            <a:ext cx="28289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FAQs Matter for AI</a:t>
            </a:r>
            <a:endParaRPr lang="en-US" sz="987" dirty="0"/>
          </a:p>
        </p:txBody>
      </p:sp>
      <p:sp>
        <p:nvSpPr>
          <p:cNvPr id="39" name="Text 35"/>
          <p:cNvSpPr/>
          <p:nvPr/>
        </p:nvSpPr>
        <p:spPr>
          <a:xfrm>
            <a:off x="5600700" y="3022141"/>
            <a:ext cx="2828925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engines like ChatGPT and Perplexity rely heavily on structured Q&amp;A formats to generate recommendations. Currently, 11 of the 19 sites lack dedicated FAQ sections, meaning AI engines have to guess or look elsewhere for answers.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4: Establish Trust Signals That AI Engines Prioritize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262993"/>
            <a:ext cx="8001000" cy="59717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0125" y="1334430"/>
            <a:ext cx="610790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4.1: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Build detailed "About Us" / Team pages with employee bios for 10 sites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(6 domestic, 4 intl)</a:t>
            </a:r>
            <a:endParaRPr lang="en-US" sz="1090" dirty="0"/>
          </a:p>
        </p:txBody>
      </p:sp>
      <p:sp>
        <p:nvSpPr>
          <p:cNvPr id="6" name="Shape 3"/>
          <p:cNvSpPr/>
          <p:nvPr/>
        </p:nvSpPr>
        <p:spPr>
          <a:xfrm>
            <a:off x="7222331" y="1435671"/>
            <a:ext cx="1207294" cy="237530"/>
          </a:xfrm>
          <a:prstGeom prst="rect">
            <a:avLst/>
          </a:prstGeom>
          <a:solidFill>
            <a:srgbClr val="F59E0B">
              <a:alpha val="15000"/>
            </a:srgbClr>
          </a:solidFill>
          <a:ln w="9144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22331" y="1435671"/>
            <a:ext cx="1207294" cy="23753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TEAM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571500" y="1903028"/>
            <a:ext cx="8001000" cy="59717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0125" y="1974466"/>
            <a:ext cx="6474023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4.2: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Audit NAP (Name, Address, Phone) consistency across major directories for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19 brands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7588448" y="2075706"/>
            <a:ext cx="841177" cy="237530"/>
          </a:xfrm>
          <a:prstGeom prst="rect">
            <a:avLst/>
          </a:prstGeom>
          <a:solidFill>
            <a:srgbClr val="A855F7">
              <a:alpha val="15000"/>
            </a:srgbClr>
          </a:solidFill>
          <a:ln w="9144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8448" y="2075706"/>
            <a:ext cx="841177" cy="23753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 TEAM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571500" y="2543063"/>
            <a:ext cx="8001000" cy="59717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0125" y="2614501"/>
            <a:ext cx="646866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4.3: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Ensure customer reviews are displayed and marked up with Review schema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all sites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7583091" y="2715741"/>
            <a:ext cx="846534" cy="237530"/>
          </a:xfrm>
          <a:prstGeom prst="rect">
            <a:avLst/>
          </a:prstGeom>
          <a:solidFill>
            <a:srgbClr val="10B981">
              <a:alpha val="15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83091" y="2715741"/>
            <a:ext cx="846534" cy="23753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TEAM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571500" y="3183099"/>
            <a:ext cx="8001000" cy="394692"/>
          </a:xfrm>
          <a:prstGeom prst="rect">
            <a:avLst/>
          </a:prstGeom>
          <a:solidFill>
            <a:srgbClr val="3B82F6">
              <a:alpha val="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71500" y="3183099"/>
            <a:ext cx="80010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8565356" y="3183099"/>
            <a:ext cx="7144" cy="3946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571500" y="3570647"/>
            <a:ext cx="80010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571500" y="3183099"/>
            <a:ext cx="28575" cy="3946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1000125" y="3263298"/>
            <a:ext cx="6474023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Check: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Verify all About Us pages are live and indexed</a:t>
            </a:r>
            <a:endParaRPr lang="en-US" sz="1090" dirty="0"/>
          </a:p>
        </p:txBody>
      </p:sp>
      <p:sp>
        <p:nvSpPr>
          <p:cNvPr id="22" name="Shape 19"/>
          <p:cNvSpPr/>
          <p:nvPr/>
        </p:nvSpPr>
        <p:spPr>
          <a:xfrm>
            <a:off x="7588448" y="3254536"/>
            <a:ext cx="841177" cy="237530"/>
          </a:xfrm>
          <a:prstGeom prst="rect">
            <a:avLst/>
          </a:prstGeom>
          <a:solidFill>
            <a:srgbClr val="A855F7">
              <a:alpha val="15000"/>
            </a:srgbClr>
          </a:solidFill>
          <a:ln w="9144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88448" y="3254536"/>
            <a:ext cx="841177" cy="23753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 TEAM</a:t>
            </a:r>
            <a:endParaRPr lang="en-US" sz="784" dirty="0"/>
          </a:p>
        </p:txBody>
      </p:sp>
      <p:sp>
        <p:nvSpPr>
          <p:cNvPr id="24" name="Shape 21"/>
          <p:cNvSpPr/>
          <p:nvPr/>
        </p:nvSpPr>
        <p:spPr>
          <a:xfrm>
            <a:off x="571500" y="3606366"/>
            <a:ext cx="8001000" cy="394692"/>
          </a:xfrm>
          <a:prstGeom prst="rect">
            <a:avLst/>
          </a:prstGeom>
          <a:solidFill>
            <a:srgbClr val="3B82F6">
              <a:alpha val="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71500" y="3606366"/>
            <a:ext cx="80010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8565356" y="3606366"/>
            <a:ext cx="7144" cy="3946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571500" y="3993914"/>
            <a:ext cx="80010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571500" y="3606366"/>
            <a:ext cx="28575" cy="3946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1000125" y="3686566"/>
            <a:ext cx="6474023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Check: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Verify NAP consistency across Google, Yelp, BBB for all 19 brands</a:t>
            </a:r>
            <a:endParaRPr lang="en-US" sz="1090" dirty="0"/>
          </a:p>
        </p:txBody>
      </p:sp>
      <p:sp>
        <p:nvSpPr>
          <p:cNvPr id="30" name="Shape 27"/>
          <p:cNvSpPr/>
          <p:nvPr/>
        </p:nvSpPr>
        <p:spPr>
          <a:xfrm>
            <a:off x="7588448" y="3677803"/>
            <a:ext cx="841177" cy="237530"/>
          </a:xfrm>
          <a:prstGeom prst="rect">
            <a:avLst/>
          </a:prstGeom>
          <a:solidFill>
            <a:srgbClr val="A855F7">
              <a:alpha val="15000"/>
            </a:srgbClr>
          </a:solidFill>
          <a:ln w="9144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8448" y="3677803"/>
            <a:ext cx="841177" cy="23753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 TEAM</a:t>
            </a:r>
            <a:endParaRPr lang="en-US" sz="784" dirty="0"/>
          </a:p>
        </p:txBody>
      </p:sp>
      <p:sp>
        <p:nvSpPr>
          <p:cNvPr id="32" name="Shape 29"/>
          <p:cNvSpPr/>
          <p:nvPr/>
        </p:nvSpPr>
        <p:spPr>
          <a:xfrm>
            <a:off x="571500" y="4471988"/>
            <a:ext cx="8001000" cy="585788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571500" y="4471988"/>
            <a:ext cx="57150" cy="5857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1"/>
          <p:cNvSpPr/>
          <p:nvPr/>
        </p:nvSpPr>
        <p:spPr>
          <a:xfrm>
            <a:off x="714375" y="4678263"/>
            <a:ext cx="165556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OUTCOME</a:t>
            </a:r>
            <a:endParaRPr lang="en-US" sz="987" dirty="0"/>
          </a:p>
        </p:txBody>
      </p:sp>
      <p:sp>
        <p:nvSpPr>
          <p:cNvPr id="35" name="Text 32"/>
          <p:cNvSpPr/>
          <p:nvPr/>
        </p:nvSpPr>
        <p:spPr>
          <a:xfrm>
            <a:off x="2484239" y="4557713"/>
            <a:ext cx="5945386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complete. All 19 sites have FAQ, About Us, and Review schema.</a:t>
            </a:r>
            <a:endParaRPr lang="en-US" sz="119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83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 • WEEKS 5-8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571500" y="750094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Alex's Reddit Strategy — The Right Way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571500" y="2156436"/>
            <a:ext cx="342900" cy="34290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242161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7275" y="2156436"/>
            <a:ext cx="3644624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phase Alex originally asked for: </a:t>
            </a: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Reddit engagement to show up in AI search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AI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engines heavily weight "earned media" and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third-party mentions.</a:t>
            </a:r>
            <a:endParaRPr lang="en-US" sz="1159" dirty="0"/>
          </a:p>
        </p:txBody>
      </p:sp>
      <p:sp>
        <p:nvSpPr>
          <p:cNvPr id="8" name="Shape 4"/>
          <p:cNvSpPr/>
          <p:nvPr/>
        </p:nvSpPr>
        <p:spPr>
          <a:xfrm>
            <a:off x="571500" y="3313723"/>
            <a:ext cx="342900" cy="34290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94" y="3399448"/>
            <a:ext cx="214313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7275" y="3313723"/>
            <a:ext cx="364462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Executed strictly under the </a:t>
            </a: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90/10 Rule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90%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genuinely helpful advice, 10% subtle promotion.</a:t>
            </a:r>
            <a:endParaRPr lang="en-US" sz="1159" dirty="0"/>
          </a:p>
        </p:txBody>
      </p:sp>
      <p:sp>
        <p:nvSpPr>
          <p:cNvPr id="11" name="Shape 6"/>
          <p:cNvSpPr/>
          <p:nvPr/>
        </p:nvSpPr>
        <p:spPr>
          <a:xfrm>
            <a:off x="571500" y="3999523"/>
            <a:ext cx="342900" cy="34290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4085248"/>
            <a:ext cx="171450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7275" y="3999523"/>
            <a:ext cx="3644624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FTC Compliance is Mandatory.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team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 must disclose employment when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mentioning brands. Penalty for astroturfing: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$53,088 per instance.</a:t>
            </a:r>
            <a:endParaRPr lang="en-US" sz="1159" dirty="0"/>
          </a:p>
        </p:txBody>
      </p:sp>
      <p:sp>
        <p:nvSpPr>
          <p:cNvPr id="14" name="Shape 8"/>
          <p:cNvSpPr/>
          <p:nvPr/>
        </p:nvSpPr>
        <p:spPr>
          <a:xfrm>
            <a:off x="5130524" y="1858770"/>
            <a:ext cx="3441976" cy="1031881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5130524" y="1858770"/>
            <a:ext cx="3441976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0"/>
          <p:cNvSpPr/>
          <p:nvPr/>
        </p:nvSpPr>
        <p:spPr>
          <a:xfrm>
            <a:off x="8565356" y="1858770"/>
            <a:ext cx="7144" cy="10318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1"/>
          <p:cNvSpPr/>
          <p:nvPr/>
        </p:nvSpPr>
        <p:spPr>
          <a:xfrm>
            <a:off x="5130524" y="2883508"/>
            <a:ext cx="3441976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2"/>
          <p:cNvSpPr/>
          <p:nvPr/>
        </p:nvSpPr>
        <p:spPr>
          <a:xfrm>
            <a:off x="5130524" y="1858770"/>
            <a:ext cx="42863" cy="103188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3"/>
          <p:cNvSpPr/>
          <p:nvPr/>
        </p:nvSpPr>
        <p:spPr>
          <a:xfrm>
            <a:off x="5344837" y="2030220"/>
            <a:ext cx="301335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784" dirty="0"/>
          </a:p>
        </p:txBody>
      </p:sp>
      <p:sp>
        <p:nvSpPr>
          <p:cNvPr id="20" name="Text 14"/>
          <p:cNvSpPr/>
          <p:nvPr/>
        </p:nvSpPr>
        <p:spPr>
          <a:xfrm>
            <a:off x="5344837" y="2224887"/>
            <a:ext cx="301335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(Justin) / Marketing Team</a:t>
            </a:r>
            <a:endParaRPr lang="en-US" sz="1193" dirty="0"/>
          </a:p>
        </p:txBody>
      </p:sp>
      <p:sp>
        <p:nvSpPr>
          <p:cNvPr id="21" name="Shape 15"/>
          <p:cNvSpPr/>
          <p:nvPr/>
        </p:nvSpPr>
        <p:spPr>
          <a:xfrm>
            <a:off x="5130524" y="3019239"/>
            <a:ext cx="3441976" cy="79186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5130524" y="3019239"/>
            <a:ext cx="3441976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8565356" y="3019239"/>
            <a:ext cx="7144" cy="7918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5130524" y="3803963"/>
            <a:ext cx="3441976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5130524" y="3019239"/>
            <a:ext cx="42863" cy="7918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0"/>
          <p:cNvSpPr/>
          <p:nvPr/>
        </p:nvSpPr>
        <p:spPr>
          <a:xfrm>
            <a:off x="5344837" y="3190689"/>
            <a:ext cx="301335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 BUDGET</a:t>
            </a:r>
            <a:endParaRPr lang="en-US" sz="784" dirty="0"/>
          </a:p>
        </p:txBody>
      </p:sp>
      <p:sp>
        <p:nvSpPr>
          <p:cNvPr id="27" name="Text 21"/>
          <p:cNvSpPr/>
          <p:nvPr/>
        </p:nvSpPr>
        <p:spPr>
          <a:xfrm>
            <a:off x="5344837" y="3385356"/>
            <a:ext cx="301335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Time Only </a:t>
            </a: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(30 mins/day per rep)</a:t>
            </a:r>
            <a:endParaRPr lang="en-US" sz="1193" dirty="0"/>
          </a:p>
        </p:txBody>
      </p:sp>
      <p:sp>
        <p:nvSpPr>
          <p:cNvPr id="28" name="Shape 22"/>
          <p:cNvSpPr/>
          <p:nvPr/>
        </p:nvSpPr>
        <p:spPr>
          <a:xfrm>
            <a:off x="5130524" y="3939694"/>
            <a:ext cx="3441976" cy="1271894"/>
          </a:xfrm>
          <a:prstGeom prst="rect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5130524" y="3939694"/>
            <a:ext cx="3441976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4"/>
          <p:cNvSpPr/>
          <p:nvPr/>
        </p:nvSpPr>
        <p:spPr>
          <a:xfrm>
            <a:off x="8565356" y="3939694"/>
            <a:ext cx="7144" cy="12718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5"/>
          <p:cNvSpPr/>
          <p:nvPr/>
        </p:nvSpPr>
        <p:spPr>
          <a:xfrm>
            <a:off x="5130524" y="5204445"/>
            <a:ext cx="3441976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6"/>
          <p:cNvSpPr/>
          <p:nvPr/>
        </p:nvSpPr>
        <p:spPr>
          <a:xfrm>
            <a:off x="5130524" y="3939694"/>
            <a:ext cx="42863" cy="127189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27"/>
          <p:cNvSpPr/>
          <p:nvPr/>
        </p:nvSpPr>
        <p:spPr>
          <a:xfrm>
            <a:off x="5344837" y="4111144"/>
            <a:ext cx="301335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KPI</a:t>
            </a:r>
            <a:endParaRPr lang="en-US" sz="784" dirty="0"/>
          </a:p>
        </p:txBody>
      </p:sp>
      <p:sp>
        <p:nvSpPr>
          <p:cNvPr id="34" name="Text 28"/>
          <p:cNvSpPr/>
          <p:nvPr/>
        </p:nvSpPr>
        <p:spPr>
          <a:xfrm>
            <a:off x="5344837" y="4305812"/>
            <a:ext cx="3013351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active Reddit accounts; 20+ helpful comments/week; 1 AMA hosted; zero bans.</a:t>
            </a:r>
            <a:endParaRPr lang="en-US" sz="119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60034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5: Set Up Reddit Accounts and Train the Team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074409"/>
            <a:ext cx="4629150" cy="364046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71563" y="1306581"/>
            <a:ext cx="5339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5.1: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1605558" y="1306581"/>
            <a:ext cx="28592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individual Reddit accounts for 3-5 team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1071563" y="1499462"/>
            <a:ext cx="30789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 (personal handles, not company names).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1157288" y="1678056"/>
            <a:ext cx="755452" cy="207169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157288" y="1678056"/>
            <a:ext cx="755452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1071563" y="2045959"/>
            <a:ext cx="571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5.2: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1643063" y="2045959"/>
            <a:ext cx="25181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 to target subreddits: r/moving,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1071563" y="2238840"/>
            <a:ext cx="35897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r/SameGrassButGreener, r/expats, r/IWantOut, city-specific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1071563" y="2431721"/>
            <a:ext cx="3643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1521619" y="2417434"/>
            <a:ext cx="755452" cy="207169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521619" y="2417434"/>
            <a:ext cx="755452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1071563" y="2785337"/>
            <a:ext cx="5697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5.3: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1641277" y="2785337"/>
            <a:ext cx="32879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 mandatory FTC compliance training session.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1157288" y="2963931"/>
            <a:ext cx="1044773" cy="207169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157288" y="2963931"/>
            <a:ext cx="1044773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TEAM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1071563" y="3331834"/>
            <a:ext cx="6447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5.3a: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1716286" y="3331834"/>
            <a:ext cx="31771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 written guidelines: disclosure rules, 90/10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1071563" y="3524715"/>
            <a:ext cx="15841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rule, multi-brand rotation.</a:t>
            </a:r>
            <a:endParaRPr lang="en-US" sz="942" dirty="0"/>
          </a:p>
        </p:txBody>
      </p:sp>
      <p:sp>
        <p:nvSpPr>
          <p:cNvPr id="23" name="Shape 20"/>
          <p:cNvSpPr/>
          <p:nvPr/>
        </p:nvSpPr>
        <p:spPr>
          <a:xfrm>
            <a:off x="2741414" y="3510428"/>
            <a:ext cx="1044773" cy="207169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2741414" y="3510428"/>
            <a:ext cx="1044773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TEAM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1071563" y="3878331"/>
            <a:ext cx="5786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5.4: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1650206" y="3878331"/>
            <a:ext cx="32218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 observing subreddit culture, tone, and posting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1071563" y="4071212"/>
            <a:ext cx="1571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(no posting yet).</a:t>
            </a:r>
            <a:endParaRPr lang="en-US" sz="942" dirty="0"/>
          </a:p>
        </p:txBody>
      </p:sp>
      <p:sp>
        <p:nvSpPr>
          <p:cNvPr id="28" name="Shape 25"/>
          <p:cNvSpPr/>
          <p:nvPr/>
        </p:nvSpPr>
        <p:spPr>
          <a:xfrm>
            <a:off x="2728913" y="4056924"/>
            <a:ext cx="755452" cy="207169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2728913" y="4056924"/>
            <a:ext cx="755452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</a:t>
            </a:r>
            <a:endParaRPr lang="en-US" sz="683" dirty="0"/>
          </a:p>
        </p:txBody>
      </p:sp>
      <p:sp>
        <p:nvSpPr>
          <p:cNvPr id="30" name="Shape 27"/>
          <p:cNvSpPr/>
          <p:nvPr/>
        </p:nvSpPr>
        <p:spPr>
          <a:xfrm>
            <a:off x="5486400" y="1074409"/>
            <a:ext cx="3086100" cy="1393031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5486400" y="1074409"/>
            <a:ext cx="42863" cy="139303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13" y="1306581"/>
            <a:ext cx="192881" cy="17145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979319" y="1288721"/>
            <a:ext cx="159127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Outcome</a:t>
            </a:r>
            <a:endParaRPr lang="en-US" sz="1193" dirty="0"/>
          </a:p>
        </p:txBody>
      </p:sp>
      <p:sp>
        <p:nvSpPr>
          <p:cNvPr id="34" name="Text 30"/>
          <p:cNvSpPr/>
          <p:nvPr/>
        </p:nvSpPr>
        <p:spPr>
          <a:xfrm>
            <a:off x="5700713" y="1610190"/>
            <a:ext cx="26574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accounts created; team trained on FTC rules; observation period complete.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5486400" y="2681753"/>
            <a:ext cx="3086100" cy="1459111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36" name="Shape 32"/>
          <p:cNvSpPr/>
          <p:nvPr/>
        </p:nvSpPr>
        <p:spPr>
          <a:xfrm>
            <a:off x="5486400" y="2681753"/>
            <a:ext cx="42863" cy="1459111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713" y="2911246"/>
            <a:ext cx="142875" cy="142875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915025" y="2896065"/>
            <a:ext cx="176986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FTC Compliance Warning</a:t>
            </a:r>
            <a:endParaRPr lang="en-US" sz="987" dirty="0"/>
          </a:p>
        </p:txBody>
      </p:sp>
      <p:sp>
        <p:nvSpPr>
          <p:cNvPr id="39" name="Text 34"/>
          <p:cNvSpPr/>
          <p:nvPr/>
        </p:nvSpPr>
        <p:spPr>
          <a:xfrm>
            <a:off x="5700713" y="3155026"/>
            <a:ext cx="265747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team members must disclose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employment when mentioning brands.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Penalty for violations (astroturfing) is </a:t>
            </a: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$53,088 per instance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4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6: Build Credibility Through Genuinely Helpful Engagement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234418"/>
            <a:ext cx="8001000" cy="56859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85850" y="1291568"/>
            <a:ext cx="612398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6.1: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Each team member spends 15-30 mins/day upvoting and commenting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moving-related posts</a:t>
            </a:r>
            <a:endParaRPr lang="en-US" sz="1090" dirty="0"/>
          </a:p>
        </p:txBody>
      </p:sp>
      <p:sp>
        <p:nvSpPr>
          <p:cNvPr id="6" name="Shape 3"/>
          <p:cNvSpPr/>
          <p:nvPr/>
        </p:nvSpPr>
        <p:spPr>
          <a:xfrm>
            <a:off x="7381280" y="1378521"/>
            <a:ext cx="1048345" cy="266105"/>
          </a:xfrm>
          <a:prstGeom prst="rect">
            <a:avLst/>
          </a:prstGeom>
          <a:solidFill>
            <a:srgbClr val="10B981">
              <a:alpha val="15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81280" y="1378521"/>
            <a:ext cx="1048345" cy="266105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571500" y="1845878"/>
            <a:ext cx="8001000" cy="56859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5850" y="1903028"/>
            <a:ext cx="612398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6.2: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Answer specific moving logistics questions WITHOUT mentioning any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the 19 brands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7381280" y="1989981"/>
            <a:ext cx="1048345" cy="266105"/>
          </a:xfrm>
          <a:prstGeom prst="rect">
            <a:avLst/>
          </a:prstGeom>
          <a:solidFill>
            <a:srgbClr val="10B981">
              <a:alpha val="15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81280" y="1989981"/>
            <a:ext cx="1048345" cy="266105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571500" y="2457338"/>
            <a:ext cx="8001000" cy="394692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85850" y="2537538"/>
            <a:ext cx="612398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6.3: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Target 100+ comment karma per account by end of week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7381280" y="2514488"/>
            <a:ext cx="1048345" cy="266105"/>
          </a:xfrm>
          <a:prstGeom prst="rect">
            <a:avLst/>
          </a:prstGeom>
          <a:solidFill>
            <a:srgbClr val="10B981">
              <a:alpha val="15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81280" y="2514488"/>
            <a:ext cx="1048345" cy="266105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571500" y="2880606"/>
            <a:ext cx="8001000" cy="56859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85850" y="2937756"/>
            <a:ext cx="5761434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6.4: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Track all posts in a shared spreadsheet (date, subreddit, topic,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karma earned)</a:t>
            </a:r>
            <a:endParaRPr lang="en-US" sz="1090" dirty="0"/>
          </a:p>
        </p:txBody>
      </p:sp>
      <p:sp>
        <p:nvSpPr>
          <p:cNvPr id="18" name="Shape 15"/>
          <p:cNvSpPr/>
          <p:nvPr/>
        </p:nvSpPr>
        <p:spPr>
          <a:xfrm>
            <a:off x="7018734" y="3024708"/>
            <a:ext cx="1410891" cy="266105"/>
          </a:xfrm>
          <a:prstGeom prst="rect">
            <a:avLst/>
          </a:prstGeom>
          <a:solidFill>
            <a:srgbClr val="3B82F6">
              <a:alpha val="15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18734" y="3024708"/>
            <a:ext cx="1410891" cy="266105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TEAM</a:t>
            </a:r>
            <a:endParaRPr lang="en-US" sz="784" dirty="0"/>
          </a:p>
        </p:txBody>
      </p:sp>
      <p:sp>
        <p:nvSpPr>
          <p:cNvPr id="20" name="Shape 17"/>
          <p:cNvSpPr/>
          <p:nvPr/>
        </p:nvSpPr>
        <p:spPr>
          <a:xfrm>
            <a:off x="571500" y="3492066"/>
            <a:ext cx="8001000" cy="568598"/>
          </a:xfrm>
          <a:prstGeom prst="rect">
            <a:avLst/>
          </a:prstGeom>
          <a:solidFill>
            <a:srgbClr val="EF4444">
              <a:alpha val="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71500" y="3492066"/>
            <a:ext cx="80010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8565356" y="3492066"/>
            <a:ext cx="7144" cy="5685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571500" y="4053520"/>
            <a:ext cx="80010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571500" y="3492066"/>
            <a:ext cx="28575" cy="56859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2"/>
          <p:cNvSpPr/>
          <p:nvPr/>
        </p:nvSpPr>
        <p:spPr>
          <a:xfrm>
            <a:off x="1085850" y="3549216"/>
            <a:ext cx="5761434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Check: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Review all posts for accidental brand mentions or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promotional language</a:t>
            </a:r>
            <a:endParaRPr lang="en-US" sz="1090" dirty="0"/>
          </a:p>
        </p:txBody>
      </p:sp>
      <p:sp>
        <p:nvSpPr>
          <p:cNvPr id="26" name="Shape 23"/>
          <p:cNvSpPr/>
          <p:nvPr/>
        </p:nvSpPr>
        <p:spPr>
          <a:xfrm>
            <a:off x="7018734" y="3636169"/>
            <a:ext cx="1410891" cy="266105"/>
          </a:xfrm>
          <a:prstGeom prst="rect">
            <a:avLst/>
          </a:prstGeom>
          <a:solidFill>
            <a:srgbClr val="3B82F6">
              <a:alpha val="15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18734" y="3636169"/>
            <a:ext cx="1410891" cy="266105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TEAM</a:t>
            </a:r>
            <a:endParaRPr lang="en-US" sz="784" dirty="0"/>
          </a:p>
        </p:txBody>
      </p:sp>
      <p:sp>
        <p:nvSpPr>
          <p:cNvPr id="28" name="Shape 25"/>
          <p:cNvSpPr/>
          <p:nvPr/>
        </p:nvSpPr>
        <p:spPr>
          <a:xfrm>
            <a:off x="571500" y="4471988"/>
            <a:ext cx="8001000" cy="585788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571500" y="4471988"/>
            <a:ext cx="57150" cy="5857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7"/>
          <p:cNvSpPr/>
          <p:nvPr/>
        </p:nvSpPr>
        <p:spPr>
          <a:xfrm>
            <a:off x="785813" y="4678263"/>
            <a:ext cx="165556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OUTCOME</a:t>
            </a:r>
            <a:endParaRPr lang="en-US" sz="987" dirty="0"/>
          </a:p>
        </p:txBody>
      </p:sp>
      <p:sp>
        <p:nvSpPr>
          <p:cNvPr id="31" name="Text 28"/>
          <p:cNvSpPr/>
          <p:nvPr/>
        </p:nvSpPr>
        <p:spPr>
          <a:xfrm>
            <a:off x="2612827" y="4557713"/>
            <a:ext cx="574536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accounts have 50+ karma; team is comfortable with Reddit culture.</a:t>
            </a:r>
            <a:endParaRPr lang="en-US" sz="119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7-8: Begin Strategic Brand Mentions with FTC Disclosure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363005"/>
            <a:ext cx="8001000" cy="35004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7275" y="1430871"/>
            <a:ext cx="630257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7.1: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Begin mentioning brands ONLY when users explicitly ask for recommendations</a:t>
            </a:r>
            <a:endParaRPr lang="en-US" sz="987" dirty="0"/>
          </a:p>
        </p:txBody>
      </p:sp>
      <p:sp>
        <p:nvSpPr>
          <p:cNvPr id="6" name="Shape 3"/>
          <p:cNvSpPr/>
          <p:nvPr/>
        </p:nvSpPr>
        <p:spPr>
          <a:xfrm>
            <a:off x="7502723" y="1420155"/>
            <a:ext cx="898327" cy="221456"/>
          </a:xfrm>
          <a:prstGeom prst="rect">
            <a:avLst/>
          </a:prstGeom>
          <a:solidFill>
            <a:srgbClr val="10B981">
              <a:alpha val="15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02723" y="1420155"/>
            <a:ext cx="898327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571500" y="1770199"/>
            <a:ext cx="8001000" cy="35004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7275" y="1838065"/>
            <a:ext cx="630257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7.1a: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Always include FTC disclosure: "Full disclosure: I work for [Brand Name]"</a:t>
            </a:r>
            <a:endParaRPr lang="en-US" sz="987" dirty="0"/>
          </a:p>
        </p:txBody>
      </p:sp>
      <p:sp>
        <p:nvSpPr>
          <p:cNvPr id="10" name="Shape 7"/>
          <p:cNvSpPr/>
          <p:nvPr/>
        </p:nvSpPr>
        <p:spPr>
          <a:xfrm>
            <a:off x="7502723" y="1827349"/>
            <a:ext cx="898327" cy="221456"/>
          </a:xfrm>
          <a:prstGeom prst="rect">
            <a:avLst/>
          </a:prstGeom>
          <a:solidFill>
            <a:srgbClr val="10B981">
              <a:alpha val="15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2723" y="1827349"/>
            <a:ext cx="898327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571500" y="2177393"/>
            <a:ext cx="8001000" cy="35004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7275" y="2245258"/>
            <a:ext cx="57900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7.2: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Coordinate and host 1 AMA session in r/moving or r/expats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6990159" y="2234543"/>
            <a:ext cx="1410891" cy="221456"/>
          </a:xfrm>
          <a:prstGeom prst="rect">
            <a:avLst/>
          </a:prstGeom>
          <a:solidFill>
            <a:srgbClr val="A855F7">
              <a:alpha val="15000"/>
            </a:srgbClr>
          </a:solidFill>
          <a:ln w="9144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90159" y="2234543"/>
            <a:ext cx="1410891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JUSTIN + MARKETING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571500" y="2584586"/>
            <a:ext cx="8001000" cy="52863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7275" y="2641736"/>
            <a:ext cx="598467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7.3: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 multi-brand rotation schedule (no two brands mentioned in same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thread)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7184827" y="2731033"/>
            <a:ext cx="1216223" cy="221456"/>
          </a:xfrm>
          <a:prstGeom prst="rect">
            <a:avLst/>
          </a:prstGeom>
          <a:solidFill>
            <a:srgbClr val="3B82F6">
              <a:alpha val="15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84827" y="2731033"/>
            <a:ext cx="1216223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TEAM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571500" y="3184661"/>
            <a:ext cx="8001000" cy="35004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7275" y="3252527"/>
            <a:ext cx="630257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7.4: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Continue 90% helpful engagement alongside the 10% promotional posts</a:t>
            </a:r>
            <a:endParaRPr lang="en-US" sz="987" dirty="0"/>
          </a:p>
        </p:txBody>
      </p:sp>
      <p:sp>
        <p:nvSpPr>
          <p:cNvPr id="22" name="Shape 19"/>
          <p:cNvSpPr/>
          <p:nvPr/>
        </p:nvSpPr>
        <p:spPr>
          <a:xfrm>
            <a:off x="7502723" y="3241811"/>
            <a:ext cx="898327" cy="221456"/>
          </a:xfrm>
          <a:prstGeom prst="rect">
            <a:avLst/>
          </a:prstGeom>
          <a:solidFill>
            <a:srgbClr val="10B981">
              <a:alpha val="15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02723" y="3241811"/>
            <a:ext cx="898327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</a:t>
            </a:r>
            <a:endParaRPr lang="en-US" sz="683" dirty="0"/>
          </a:p>
        </p:txBody>
      </p:sp>
      <p:sp>
        <p:nvSpPr>
          <p:cNvPr id="24" name="Shape 21"/>
          <p:cNvSpPr/>
          <p:nvPr/>
        </p:nvSpPr>
        <p:spPr>
          <a:xfrm>
            <a:off x="571500" y="3591855"/>
            <a:ext cx="8001000" cy="350044"/>
          </a:xfrm>
          <a:prstGeom prst="rect">
            <a:avLst/>
          </a:prstGeom>
          <a:solidFill>
            <a:srgbClr val="EF4444">
              <a:alpha val="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71500" y="3591855"/>
            <a:ext cx="80010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8565356" y="3591855"/>
            <a:ext cx="7144" cy="3500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571500" y="3934755"/>
            <a:ext cx="80010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571500" y="3591855"/>
            <a:ext cx="28575" cy="3500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6"/>
          <p:cNvSpPr/>
          <p:nvPr/>
        </p:nvSpPr>
        <p:spPr>
          <a:xfrm>
            <a:off x="1057275" y="3659721"/>
            <a:ext cx="598467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Check: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Weekly audit of all brand mentions for FTC compliance</a:t>
            </a:r>
            <a:endParaRPr lang="en-US" sz="987" dirty="0"/>
          </a:p>
        </p:txBody>
      </p:sp>
      <p:sp>
        <p:nvSpPr>
          <p:cNvPr id="30" name="Shape 27"/>
          <p:cNvSpPr/>
          <p:nvPr/>
        </p:nvSpPr>
        <p:spPr>
          <a:xfrm>
            <a:off x="7184827" y="3649005"/>
            <a:ext cx="1216223" cy="221456"/>
          </a:xfrm>
          <a:prstGeom prst="rect">
            <a:avLst/>
          </a:prstGeom>
          <a:solidFill>
            <a:srgbClr val="3B82F6">
              <a:alpha val="15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84827" y="3649005"/>
            <a:ext cx="1216223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TEAM</a:t>
            </a:r>
            <a:endParaRPr lang="en-US" sz="683" dirty="0"/>
          </a:p>
        </p:txBody>
      </p:sp>
      <p:sp>
        <p:nvSpPr>
          <p:cNvPr id="32" name="Shape 29"/>
          <p:cNvSpPr/>
          <p:nvPr/>
        </p:nvSpPr>
        <p:spPr>
          <a:xfrm>
            <a:off x="571500" y="4382691"/>
            <a:ext cx="8001000" cy="475059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571500" y="4382691"/>
            <a:ext cx="57150" cy="475059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1"/>
          <p:cNvSpPr/>
          <p:nvPr/>
        </p:nvSpPr>
        <p:spPr>
          <a:xfrm>
            <a:off x="785813" y="4533602"/>
            <a:ext cx="165556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OUTCOME</a:t>
            </a:r>
            <a:endParaRPr lang="en-US" sz="987" dirty="0"/>
          </a:p>
        </p:txBody>
      </p:sp>
      <p:sp>
        <p:nvSpPr>
          <p:cNvPr id="35" name="Text 32"/>
          <p:cNvSpPr/>
          <p:nvPr/>
        </p:nvSpPr>
        <p:spPr>
          <a:xfrm>
            <a:off x="2612827" y="4525566"/>
            <a:ext cx="56810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 active. First brand mentions live; AMA completed; zero violations.</a:t>
            </a:r>
            <a:endParaRPr lang="en-US" sz="10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428625"/>
            <a:ext cx="84582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 • WEEKS 9-12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342900" y="721519"/>
            <a:ext cx="84582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Results, Optimize Speed-to-Lead, and Publish Authority Content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342900" y="2133107"/>
            <a:ext cx="342900" cy="342900"/>
          </a:xfrm>
          <a:prstGeom prst="rect">
            <a:avLst/>
          </a:prstGeom>
          <a:solidFill>
            <a:srgbClr val="A855F7">
              <a:alpha val="1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09" y="2218832"/>
            <a:ext cx="192881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2133107"/>
            <a:ext cx="3936848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Share of Voice Tracking: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 will measure exactly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often the 19 brands appear in ChatGPT,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Perplexity, and Google AI responses.</a:t>
            </a:r>
            <a:endParaRPr lang="en-US" sz="1159" dirty="0"/>
          </a:p>
        </p:txBody>
      </p:sp>
      <p:sp>
        <p:nvSpPr>
          <p:cNvPr id="8" name="Shape 4"/>
          <p:cNvSpPr/>
          <p:nvPr/>
        </p:nvSpPr>
        <p:spPr>
          <a:xfrm>
            <a:off x="342900" y="2968926"/>
            <a:ext cx="342900" cy="342900"/>
          </a:xfrm>
          <a:prstGeom prst="rect">
            <a:avLst/>
          </a:prstGeom>
          <a:solidFill>
            <a:srgbClr val="A855F7">
              <a:alpha val="10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" y="3054651"/>
            <a:ext cx="128588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5813" y="2968926"/>
            <a:ext cx="3936848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Speed-to-Lead Optimization: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Implementing a strict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5-minute response SLA. Leads contacted within 5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minutes are </a:t>
            </a:r>
            <a:r>
              <a:rPr lang="en-US" sz="109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21x more likely to book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59" dirty="0"/>
          </a:p>
        </p:txBody>
      </p:sp>
      <p:sp>
        <p:nvSpPr>
          <p:cNvPr id="11" name="Shape 6"/>
          <p:cNvSpPr/>
          <p:nvPr/>
        </p:nvSpPr>
        <p:spPr>
          <a:xfrm>
            <a:off x="342900" y="3804745"/>
            <a:ext cx="342900" cy="342900"/>
          </a:xfrm>
          <a:prstGeom prst="rect">
            <a:avLst/>
          </a:prstGeom>
          <a:solidFill>
            <a:srgbClr val="A855F7">
              <a:alpha val="10000"/>
            </a:srgbClr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6" y="3890470"/>
            <a:ext cx="128588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85813" y="3804745"/>
            <a:ext cx="3936848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 Research: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Publishing proprietary data (e.g.,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"2026 State of Global Relocation Costs") that AI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engines are forced to cite as the definitive source.</a:t>
            </a:r>
            <a:endParaRPr lang="en-US" sz="1159" dirty="0"/>
          </a:p>
        </p:txBody>
      </p:sp>
      <p:sp>
        <p:nvSpPr>
          <p:cNvPr id="14" name="Shape 8"/>
          <p:cNvSpPr/>
          <p:nvPr/>
        </p:nvSpPr>
        <p:spPr>
          <a:xfrm>
            <a:off x="5151286" y="1960457"/>
            <a:ext cx="3649814" cy="860431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5151286" y="1960457"/>
            <a:ext cx="3649814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0"/>
          <p:cNvSpPr/>
          <p:nvPr/>
        </p:nvSpPr>
        <p:spPr>
          <a:xfrm>
            <a:off x="8793956" y="1960457"/>
            <a:ext cx="7144" cy="8604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1"/>
          <p:cNvSpPr/>
          <p:nvPr/>
        </p:nvSpPr>
        <p:spPr>
          <a:xfrm>
            <a:off x="5151286" y="2813745"/>
            <a:ext cx="3649814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2"/>
          <p:cNvSpPr/>
          <p:nvPr/>
        </p:nvSpPr>
        <p:spPr>
          <a:xfrm>
            <a:off x="5151286" y="1960457"/>
            <a:ext cx="42863" cy="86043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3"/>
          <p:cNvSpPr/>
          <p:nvPr/>
        </p:nvSpPr>
        <p:spPr>
          <a:xfrm>
            <a:off x="5294161" y="2053326"/>
            <a:ext cx="336406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784" dirty="0"/>
          </a:p>
        </p:txBody>
      </p:sp>
      <p:sp>
        <p:nvSpPr>
          <p:cNvPr id="20" name="Text 14"/>
          <p:cNvSpPr/>
          <p:nvPr/>
        </p:nvSpPr>
        <p:spPr>
          <a:xfrm>
            <a:off x="5294161" y="2247993"/>
            <a:ext cx="336406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Team / Sales Team / Executive Leadership</a:t>
            </a:r>
            <a:endParaRPr lang="en-US" sz="1193" dirty="0"/>
          </a:p>
        </p:txBody>
      </p:sp>
      <p:sp>
        <p:nvSpPr>
          <p:cNvPr id="21" name="Shape 15"/>
          <p:cNvSpPr/>
          <p:nvPr/>
        </p:nvSpPr>
        <p:spPr>
          <a:xfrm>
            <a:off x="5151286" y="2885182"/>
            <a:ext cx="3649814" cy="62041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5151286" y="2885182"/>
            <a:ext cx="3649814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8793956" y="2885182"/>
            <a:ext cx="7144" cy="6204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5151286" y="3498456"/>
            <a:ext cx="3649814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5151286" y="2885182"/>
            <a:ext cx="42863" cy="62041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0"/>
          <p:cNvSpPr/>
          <p:nvPr/>
        </p:nvSpPr>
        <p:spPr>
          <a:xfrm>
            <a:off x="5294161" y="2978051"/>
            <a:ext cx="336406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 BUDGET</a:t>
            </a:r>
            <a:endParaRPr lang="en-US" sz="784" dirty="0"/>
          </a:p>
        </p:txBody>
      </p:sp>
      <p:sp>
        <p:nvSpPr>
          <p:cNvPr id="27" name="Text 21"/>
          <p:cNvSpPr/>
          <p:nvPr/>
        </p:nvSpPr>
        <p:spPr>
          <a:xfrm>
            <a:off x="5294161" y="3172718"/>
            <a:ext cx="3364064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$150 - $300 / month </a:t>
            </a: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(Tracking Tools)</a:t>
            </a:r>
            <a:endParaRPr lang="en-US" sz="1193" dirty="0"/>
          </a:p>
        </p:txBody>
      </p:sp>
      <p:sp>
        <p:nvSpPr>
          <p:cNvPr id="28" name="Shape 22"/>
          <p:cNvSpPr/>
          <p:nvPr/>
        </p:nvSpPr>
        <p:spPr>
          <a:xfrm>
            <a:off x="5151286" y="3569894"/>
            <a:ext cx="3649814" cy="1100444"/>
          </a:xfrm>
          <a:prstGeom prst="rect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5151286" y="3569894"/>
            <a:ext cx="3649814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4"/>
          <p:cNvSpPr/>
          <p:nvPr/>
        </p:nvSpPr>
        <p:spPr>
          <a:xfrm>
            <a:off x="8793956" y="3569894"/>
            <a:ext cx="7144" cy="11004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5"/>
          <p:cNvSpPr/>
          <p:nvPr/>
        </p:nvSpPr>
        <p:spPr>
          <a:xfrm>
            <a:off x="5151286" y="4663194"/>
            <a:ext cx="3649814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6"/>
          <p:cNvSpPr/>
          <p:nvPr/>
        </p:nvSpPr>
        <p:spPr>
          <a:xfrm>
            <a:off x="5151286" y="3569894"/>
            <a:ext cx="42863" cy="11004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27"/>
          <p:cNvSpPr/>
          <p:nvPr/>
        </p:nvSpPr>
        <p:spPr>
          <a:xfrm>
            <a:off x="5294161" y="3662762"/>
            <a:ext cx="336406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KPI</a:t>
            </a:r>
            <a:endParaRPr lang="en-US" sz="784" dirty="0"/>
          </a:p>
        </p:txBody>
      </p:sp>
      <p:sp>
        <p:nvSpPr>
          <p:cNvPr id="34" name="Text 28"/>
          <p:cNvSpPr/>
          <p:nvPr/>
        </p:nvSpPr>
        <p:spPr>
          <a:xfrm>
            <a:off x="5294161" y="3857430"/>
            <a:ext cx="3364064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Measurable AI visibility increase; 1 research report published; 5-min SLA achieved.</a:t>
            </a:r>
            <a:endParaRPr lang="en-US" sz="119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9-10: Establish AI Visibility Tracking and Optimize Conversions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262993"/>
            <a:ext cx="3943350" cy="58578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1550" y="1355861"/>
            <a:ext cx="21270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9.1: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Run weekly AI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prompts across engines</a:t>
            </a:r>
            <a:endParaRPr lang="en-US" sz="987" dirty="0"/>
          </a:p>
        </p:txBody>
      </p:sp>
      <p:sp>
        <p:nvSpPr>
          <p:cNvPr id="6" name="Shape 3"/>
          <p:cNvSpPr/>
          <p:nvPr/>
        </p:nvSpPr>
        <p:spPr>
          <a:xfrm>
            <a:off x="3184327" y="1445158"/>
            <a:ext cx="1216223" cy="221456"/>
          </a:xfrm>
          <a:prstGeom prst="rect">
            <a:avLst/>
          </a:prstGeom>
          <a:solidFill>
            <a:srgbClr val="3B82F6">
              <a:alpha val="15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184327" y="1445158"/>
            <a:ext cx="1216223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TEAM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4629150" y="1262993"/>
            <a:ext cx="3943350" cy="58578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0" y="1348718"/>
            <a:ext cx="21270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9.1a: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Track which brands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appear in AI results</a:t>
            </a:r>
            <a:endParaRPr lang="en-US" sz="987" dirty="0"/>
          </a:p>
        </p:txBody>
      </p:sp>
      <p:sp>
        <p:nvSpPr>
          <p:cNvPr id="10" name="Shape 7"/>
          <p:cNvSpPr/>
          <p:nvPr/>
        </p:nvSpPr>
        <p:spPr>
          <a:xfrm>
            <a:off x="7241977" y="1438015"/>
            <a:ext cx="1216223" cy="221456"/>
          </a:xfrm>
          <a:prstGeom prst="rect">
            <a:avLst/>
          </a:prstGeom>
          <a:solidFill>
            <a:srgbClr val="3B82F6">
              <a:alpha val="15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41977" y="1438015"/>
            <a:ext cx="1216223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TEAM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571500" y="1920218"/>
            <a:ext cx="3943350" cy="58578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550" y="2013086"/>
            <a:ext cx="25753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9.2: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Set up GA4 referral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for AI &amp; Reddit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3632597" y="2102383"/>
            <a:ext cx="767953" cy="221456"/>
          </a:xfrm>
          <a:prstGeom prst="rect">
            <a:avLst/>
          </a:prstGeom>
          <a:solidFill>
            <a:srgbClr val="10B981">
              <a:alpha val="15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32597" y="2102383"/>
            <a:ext cx="767953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TEAM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4629150" y="1920218"/>
            <a:ext cx="3943350" cy="58578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0" y="2005943"/>
            <a:ext cx="24449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9.3: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 5-minute lead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SLA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7559873" y="2095240"/>
            <a:ext cx="898327" cy="221456"/>
          </a:xfrm>
          <a:prstGeom prst="rect">
            <a:avLst/>
          </a:prstGeom>
          <a:solidFill>
            <a:srgbClr val="F59E0B">
              <a:alpha val="15000"/>
            </a:srgbClr>
          </a:solidFill>
          <a:ln w="9144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59873" y="2095240"/>
            <a:ext cx="898327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571500" y="2577443"/>
            <a:ext cx="3943350" cy="58578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71550" y="2670311"/>
            <a:ext cx="25753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9.3a: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Build automated new-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alerts</a:t>
            </a:r>
            <a:endParaRPr lang="en-US" sz="987" dirty="0"/>
          </a:p>
        </p:txBody>
      </p:sp>
      <p:sp>
        <p:nvSpPr>
          <p:cNvPr id="22" name="Shape 19"/>
          <p:cNvSpPr/>
          <p:nvPr/>
        </p:nvSpPr>
        <p:spPr>
          <a:xfrm>
            <a:off x="3632597" y="2759608"/>
            <a:ext cx="767953" cy="221456"/>
          </a:xfrm>
          <a:prstGeom prst="rect">
            <a:avLst/>
          </a:prstGeom>
          <a:solidFill>
            <a:srgbClr val="10B981">
              <a:alpha val="15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32597" y="2759608"/>
            <a:ext cx="767953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TEAM</a:t>
            </a:r>
            <a:endParaRPr lang="en-US" sz="683" dirty="0"/>
          </a:p>
        </p:txBody>
      </p:sp>
      <p:sp>
        <p:nvSpPr>
          <p:cNvPr id="24" name="Shape 21"/>
          <p:cNvSpPr/>
          <p:nvPr/>
        </p:nvSpPr>
        <p:spPr>
          <a:xfrm>
            <a:off x="4629150" y="2577443"/>
            <a:ext cx="3943350" cy="58578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0" y="2663168"/>
            <a:ext cx="21270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9.4: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Compile initial AI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of Voice report</a:t>
            </a:r>
            <a:endParaRPr lang="en-US" sz="987" dirty="0"/>
          </a:p>
        </p:txBody>
      </p:sp>
      <p:sp>
        <p:nvSpPr>
          <p:cNvPr id="26" name="Shape 23"/>
          <p:cNvSpPr/>
          <p:nvPr/>
        </p:nvSpPr>
        <p:spPr>
          <a:xfrm>
            <a:off x="7241977" y="2752465"/>
            <a:ext cx="1216223" cy="221456"/>
          </a:xfrm>
          <a:prstGeom prst="rect">
            <a:avLst/>
          </a:prstGeom>
          <a:solidFill>
            <a:srgbClr val="3B82F6">
              <a:alpha val="15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1977" y="2752465"/>
            <a:ext cx="1216223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TEAM</a:t>
            </a:r>
            <a:endParaRPr lang="en-US" sz="683" dirty="0"/>
          </a:p>
        </p:txBody>
      </p:sp>
      <p:sp>
        <p:nvSpPr>
          <p:cNvPr id="28" name="Shape 25"/>
          <p:cNvSpPr/>
          <p:nvPr/>
        </p:nvSpPr>
        <p:spPr>
          <a:xfrm>
            <a:off x="571500" y="3263243"/>
            <a:ext cx="6286500" cy="664369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571500" y="3263243"/>
            <a:ext cx="57150" cy="664369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7"/>
          <p:cNvSpPr/>
          <p:nvPr/>
        </p:nvSpPr>
        <p:spPr>
          <a:xfrm>
            <a:off x="785813" y="3508809"/>
            <a:ext cx="165556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OUTCOME</a:t>
            </a:r>
            <a:endParaRPr lang="en-US" sz="987" dirty="0"/>
          </a:p>
        </p:txBody>
      </p:sp>
      <p:sp>
        <p:nvSpPr>
          <p:cNvPr id="31" name="Text 28"/>
          <p:cNvSpPr/>
          <p:nvPr/>
        </p:nvSpPr>
        <p:spPr>
          <a:xfrm>
            <a:off x="2612827" y="3406118"/>
            <a:ext cx="4030861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AI visibility data established; 5-minute SLA active.</a:t>
            </a:r>
            <a:endParaRPr lang="en-US" sz="109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11-12: Publish Authority Content and Conduct the 90-Day Review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363005"/>
            <a:ext cx="6861572" cy="40719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42975" y="1466590"/>
            <a:ext cx="461664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11.1: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Aggregate data from 19 brands for 2026 relocation report</a:t>
            </a:r>
            <a:endParaRPr lang="en-US" sz="987" dirty="0"/>
          </a:p>
        </p:txBody>
      </p:sp>
      <p:sp>
        <p:nvSpPr>
          <p:cNvPr id="6" name="Shape 3"/>
          <p:cNvSpPr/>
          <p:nvPr/>
        </p:nvSpPr>
        <p:spPr>
          <a:xfrm>
            <a:off x="5759648" y="1455874"/>
            <a:ext cx="1544836" cy="221456"/>
          </a:xfrm>
          <a:prstGeom prst="rect">
            <a:avLst/>
          </a:prstGeom>
          <a:solidFill>
            <a:srgbClr val="F59E0B">
              <a:alpha val="15000"/>
            </a:srgbClr>
          </a:solidFill>
          <a:ln w="9144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59648" y="1455874"/>
            <a:ext cx="1544836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+ MARKETING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7575947" y="1363005"/>
            <a:ext cx="6182916" cy="40719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47422" y="1459446"/>
            <a:ext cx="47291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11.2: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Publish report on top authority domain</a:t>
            </a:r>
            <a:endParaRPr lang="en-US" sz="987" dirty="0"/>
          </a:p>
        </p:txBody>
      </p:sp>
      <p:sp>
        <p:nvSpPr>
          <p:cNvPr id="10" name="Shape 7"/>
          <p:cNvSpPr/>
          <p:nvPr/>
        </p:nvSpPr>
        <p:spPr>
          <a:xfrm>
            <a:off x="12876609" y="1448730"/>
            <a:ext cx="767953" cy="221456"/>
          </a:xfrm>
          <a:prstGeom prst="rect">
            <a:avLst/>
          </a:prstGeom>
          <a:solidFill>
            <a:srgbClr val="10B981">
              <a:alpha val="15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876609" y="1448730"/>
            <a:ext cx="767953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TEAM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571500" y="1827349"/>
            <a:ext cx="6832997" cy="40719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2975" y="1930933"/>
            <a:ext cx="528458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11.3: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Pitch report to industry outlets for backlinks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6427589" y="1920218"/>
            <a:ext cx="862608" cy="221456"/>
          </a:xfrm>
          <a:prstGeom prst="rect">
            <a:avLst/>
          </a:prstGeom>
          <a:solidFill>
            <a:srgbClr val="3B82F6">
              <a:alpha val="15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27589" y="1920218"/>
            <a:ext cx="862608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7575947" y="1827349"/>
            <a:ext cx="6182916" cy="40719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47422" y="1923790"/>
            <a:ext cx="462022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11.4: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Compile 90-day ROI report (visibility, leads, conversions)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12767667" y="1913074"/>
            <a:ext cx="862608" cy="221456"/>
          </a:xfrm>
          <a:prstGeom prst="rect">
            <a:avLst/>
          </a:prstGeom>
          <a:solidFill>
            <a:srgbClr val="3B82F6">
              <a:alpha val="15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767667" y="1913074"/>
            <a:ext cx="862608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571500" y="2291693"/>
            <a:ext cx="6832997" cy="40719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42975" y="2395277"/>
            <a:ext cx="47363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11.5: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Schedule 90-day review with Alex</a:t>
            </a:r>
            <a:endParaRPr lang="en-US" sz="987" dirty="0"/>
          </a:p>
        </p:txBody>
      </p:sp>
      <p:sp>
        <p:nvSpPr>
          <p:cNvPr id="22" name="Shape 19"/>
          <p:cNvSpPr/>
          <p:nvPr/>
        </p:nvSpPr>
        <p:spPr>
          <a:xfrm>
            <a:off x="5879306" y="2384561"/>
            <a:ext cx="1410891" cy="221456"/>
          </a:xfrm>
          <a:prstGeom prst="rect">
            <a:avLst/>
          </a:prstGeom>
          <a:solidFill>
            <a:srgbClr val="A855F7">
              <a:alpha val="15000"/>
            </a:srgbClr>
          </a:solidFill>
          <a:ln w="9144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79306" y="2384561"/>
            <a:ext cx="1410891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JUSTIN + MARKETING</a:t>
            </a:r>
            <a:endParaRPr lang="en-US" sz="683" dirty="0"/>
          </a:p>
        </p:txBody>
      </p:sp>
      <p:sp>
        <p:nvSpPr>
          <p:cNvPr id="24" name="Shape 21"/>
          <p:cNvSpPr/>
          <p:nvPr/>
        </p:nvSpPr>
        <p:spPr>
          <a:xfrm>
            <a:off x="7575947" y="2291693"/>
            <a:ext cx="6154341" cy="40719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47422" y="2388133"/>
            <a:ext cx="460593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11.6: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Draft Q2 plan based on results</a:t>
            </a:r>
            <a:endParaRPr lang="en-US" sz="987" dirty="0"/>
          </a:p>
        </p:txBody>
      </p:sp>
      <p:sp>
        <p:nvSpPr>
          <p:cNvPr id="26" name="Shape 23"/>
          <p:cNvSpPr/>
          <p:nvPr/>
        </p:nvSpPr>
        <p:spPr>
          <a:xfrm>
            <a:off x="12753380" y="2377418"/>
            <a:ext cx="862608" cy="221456"/>
          </a:xfrm>
          <a:prstGeom prst="rect">
            <a:avLst/>
          </a:prstGeom>
          <a:solidFill>
            <a:srgbClr val="3B82F6">
              <a:alpha val="15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753380" y="2377418"/>
            <a:ext cx="862608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683" dirty="0"/>
          </a:p>
        </p:txBody>
      </p:sp>
      <p:sp>
        <p:nvSpPr>
          <p:cNvPr id="28" name="Shape 25"/>
          <p:cNvSpPr/>
          <p:nvPr/>
        </p:nvSpPr>
        <p:spPr>
          <a:xfrm>
            <a:off x="14016038" y="1363005"/>
            <a:ext cx="2571750" cy="1299046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4016038" y="1363005"/>
            <a:ext cx="57150" cy="12990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7"/>
          <p:cNvSpPr/>
          <p:nvPr/>
        </p:nvSpPr>
        <p:spPr>
          <a:xfrm>
            <a:off x="14187488" y="1505880"/>
            <a:ext cx="22288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OUTCOME</a:t>
            </a:r>
            <a:endParaRPr lang="en-US" sz="987" dirty="0"/>
          </a:p>
        </p:txBody>
      </p:sp>
      <p:sp>
        <p:nvSpPr>
          <p:cNvPr id="31" name="Text 28"/>
          <p:cNvSpPr/>
          <p:nvPr/>
        </p:nvSpPr>
        <p:spPr>
          <a:xfrm>
            <a:off x="14187488" y="1764841"/>
            <a:ext cx="222885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 complete. Original research published; 90-day review conducted; Q2 plan drafted.</a:t>
            </a:r>
            <a:endParaRPr lang="en-US" sz="109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&amp; Resource Summary (All 19 Brands)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25838"/>
            <a:ext cx="8001000" cy="54292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813" y="1286573"/>
            <a:ext cx="189309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1: Technical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2678906" y="1303539"/>
            <a:ext cx="37861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time for schema, llms.txt, robots.txt, domain fixes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65094" y="1268713"/>
            <a:ext cx="189309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$1,500 - $2,500</a:t>
            </a:r>
            <a:endParaRPr lang="en-US" sz="1397" dirty="0"/>
          </a:p>
        </p:txBody>
      </p:sp>
      <p:sp>
        <p:nvSpPr>
          <p:cNvPr id="8" name="Shape 5"/>
          <p:cNvSpPr/>
          <p:nvPr/>
        </p:nvSpPr>
        <p:spPr>
          <a:xfrm>
            <a:off x="571500" y="1768776"/>
            <a:ext cx="8001000" cy="54292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5813" y="1929510"/>
            <a:ext cx="189309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2: Content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678906" y="1946477"/>
            <a:ext cx="37861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Copywriting for FAQs, About pages, Service pages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65094" y="1911651"/>
            <a:ext cx="189309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$6,000 - $9,500</a:t>
            </a:r>
            <a:endParaRPr lang="en-US" sz="1397" dirty="0"/>
          </a:p>
        </p:txBody>
      </p:sp>
      <p:sp>
        <p:nvSpPr>
          <p:cNvPr id="12" name="Shape 9"/>
          <p:cNvSpPr/>
          <p:nvPr/>
        </p:nvSpPr>
        <p:spPr>
          <a:xfrm>
            <a:off x="571500" y="2411713"/>
            <a:ext cx="8001000" cy="54292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5813" y="2572448"/>
            <a:ext cx="189309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3: Community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2678906" y="2589414"/>
            <a:ext cx="37861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Reddit engagement, AMA hosting, monitoring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65094" y="2554588"/>
            <a:ext cx="189309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Time</a:t>
            </a:r>
            <a:endParaRPr lang="en-US" sz="1397" dirty="0"/>
          </a:p>
        </p:txBody>
      </p:sp>
      <p:sp>
        <p:nvSpPr>
          <p:cNvPr id="16" name="Shape 13"/>
          <p:cNvSpPr/>
          <p:nvPr/>
        </p:nvSpPr>
        <p:spPr>
          <a:xfrm>
            <a:off x="571500" y="3054651"/>
            <a:ext cx="8001000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5813" y="3197526"/>
            <a:ext cx="189309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4: Measurement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2678906" y="3318077"/>
            <a:ext cx="37861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tracking software, GA4 setup, reporting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65094" y="3283251"/>
            <a:ext cx="189309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$150 - $300 / mo</a:t>
            </a:r>
            <a:endParaRPr lang="en-US" sz="1397" dirty="0"/>
          </a:p>
        </p:txBody>
      </p:sp>
      <p:sp>
        <p:nvSpPr>
          <p:cNvPr id="20" name="Shape 17"/>
          <p:cNvSpPr/>
          <p:nvPr/>
        </p:nvSpPr>
        <p:spPr>
          <a:xfrm>
            <a:off x="571500" y="4040488"/>
            <a:ext cx="8001000" cy="842963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71500" y="4040488"/>
            <a:ext cx="57150" cy="84296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9"/>
          <p:cNvSpPr/>
          <p:nvPr/>
        </p:nvSpPr>
        <p:spPr>
          <a:xfrm>
            <a:off x="857250" y="4340526"/>
            <a:ext cx="340935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ESTIMATED HARD COSTS</a:t>
            </a:r>
            <a:endParaRPr lang="en-US" sz="1397" dirty="0"/>
          </a:p>
        </p:txBody>
      </p:sp>
      <p:sp>
        <p:nvSpPr>
          <p:cNvPr id="23" name="Text 20"/>
          <p:cNvSpPr/>
          <p:nvPr/>
        </p:nvSpPr>
        <p:spPr>
          <a:xfrm>
            <a:off x="5338167" y="4254801"/>
            <a:ext cx="2948583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$7,650 - $12,300</a:t>
            </a:r>
            <a:endParaRPr lang="en-US" sz="2436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0269"/>
            <a:ext cx="714375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Step: Approve and We Start Monday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276945" y="1278954"/>
            <a:ext cx="659010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the 19-brand portfolio into an AI lead generation engine.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1000125" y="1898675"/>
            <a:ext cx="3429000" cy="3234556"/>
          </a:xfrm>
          <a:prstGeom prst="rect">
            <a:avLst/>
          </a:prstGeom>
          <a:solidFill>
            <a:srgbClr val="3B82F6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000125" y="1898675"/>
            <a:ext cx="3429000" cy="571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4421981" y="1898675"/>
            <a:ext cx="7144" cy="32345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000125" y="5126087"/>
            <a:ext cx="34290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1000125" y="1898675"/>
            <a:ext cx="7144" cy="32345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466" y="2216572"/>
            <a:ext cx="257175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8420" y="2770212"/>
            <a:ext cx="212526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NEED TODAY</a:t>
            </a:r>
            <a:endParaRPr lang="en-US" sz="1193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3163119"/>
            <a:ext cx="128588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0188" y="3120256"/>
            <a:ext cx="2636044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on the </a:t>
            </a: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90-Day Sprint </a:t>
            </a: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159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75" y="3717429"/>
            <a:ext cx="128588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0188" y="3674566"/>
            <a:ext cx="2636044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on the </a:t>
            </a: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$7,650 - $12,300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budget</a:t>
            </a:r>
            <a:endParaRPr lang="en-US" sz="1159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875" y="4271739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00188" y="4228877"/>
            <a:ext cx="2636044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light to brief the Dev and Content teams</a:t>
            </a:r>
            <a:endParaRPr lang="en-US" sz="1159" dirty="0"/>
          </a:p>
        </p:txBody>
      </p:sp>
      <p:sp>
        <p:nvSpPr>
          <p:cNvPr id="18" name="Shape 11"/>
          <p:cNvSpPr/>
          <p:nvPr/>
        </p:nvSpPr>
        <p:spPr>
          <a:xfrm>
            <a:off x="4707731" y="1898675"/>
            <a:ext cx="3436144" cy="3234556"/>
          </a:xfrm>
          <a:prstGeom prst="rect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19" name="Shape 12"/>
          <p:cNvSpPr/>
          <p:nvPr/>
        </p:nvSpPr>
        <p:spPr>
          <a:xfrm>
            <a:off x="4707731" y="1898675"/>
            <a:ext cx="3436144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3"/>
          <p:cNvSpPr/>
          <p:nvPr/>
        </p:nvSpPr>
        <p:spPr>
          <a:xfrm>
            <a:off x="8136731" y="1898675"/>
            <a:ext cx="7144" cy="32345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4"/>
          <p:cNvSpPr/>
          <p:nvPr/>
        </p:nvSpPr>
        <p:spPr>
          <a:xfrm>
            <a:off x="4707731" y="5126087"/>
            <a:ext cx="3436144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5"/>
          <p:cNvSpPr/>
          <p:nvPr/>
        </p:nvSpPr>
        <p:spPr>
          <a:xfrm>
            <a:off x="4707731" y="1898675"/>
            <a:ext cx="7144" cy="32345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925" y="2248719"/>
            <a:ext cx="342900" cy="3429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252442" y="2802359"/>
            <a:ext cx="235386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HAPPENS MONDAY</a:t>
            </a:r>
            <a:endParaRPr lang="en-US" sz="1193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3195265"/>
            <a:ext cx="112514" cy="12858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198864" y="3152403"/>
            <a:ext cx="2659261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team begins </a:t>
            </a: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technical </a:t>
            </a: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fixes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all 19 domains</a:t>
            </a:r>
            <a:endParaRPr lang="en-US" sz="1159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3749576"/>
            <a:ext cx="112514" cy="12858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198864" y="3706713"/>
            <a:ext cx="2659261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begins </a:t>
            </a: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Reddit account </a:t>
            </a: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warm-up</a:t>
            </a:r>
            <a:endParaRPr lang="en-US" sz="1159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4303886"/>
            <a:ext cx="112514" cy="12858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198864" y="4261024"/>
            <a:ext cx="2659261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weekly progress report sent next Friday</a:t>
            </a:r>
            <a:endParaRPr lang="en-US" sz="115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2026-03-27T21:24:36Z</dcterms:created>
  <dcterms:modified xsi:type="dcterms:W3CDTF">2026-03-27T21:24:36Z</dcterms:modified>
</cp:coreProperties>
</file>