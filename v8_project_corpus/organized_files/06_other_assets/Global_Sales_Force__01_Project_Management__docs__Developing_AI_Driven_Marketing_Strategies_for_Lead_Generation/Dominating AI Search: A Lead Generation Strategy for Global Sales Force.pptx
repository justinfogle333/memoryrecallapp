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79256" y="0"/>
            <a:ext cx="7144" cy="5143500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288777"/>
            <a:ext cx="43434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DOMINATING </a:t>
            </a:r>
            <a:r>
              <a:rPr lang="en-US" sz="3294" b="1" spc="-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</a:t>
            </a:r>
            <a:r>
              <a:rPr lang="en-US" sz="3294" b="1" spc="-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2508907"/>
            <a:ext cx="43434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LEAD GENERATION STRATEGY FOR GLOBAL SALES FORCE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6057900" y="571500"/>
            <a:ext cx="2514600" cy="160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057900" y="571500"/>
            <a:ext cx="28575" cy="1600088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0" name="Text 7"/>
          <p:cNvSpPr/>
          <p:nvPr/>
        </p:nvSpPr>
        <p:spPr>
          <a:xfrm>
            <a:off x="6057900" y="571500"/>
            <a:ext cx="2514600" cy="16000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Make ChatGPT, Google AI, and Perplexity Recommend Our Moving Companies</a:t>
            </a:r>
            <a:endParaRPr lang="en-US" sz="1602" dirty="0"/>
          </a:p>
        </p:txBody>
      </p:sp>
      <p:sp>
        <p:nvSpPr>
          <p:cNvPr id="11" name="Shape 8"/>
          <p:cNvSpPr/>
          <p:nvPr/>
        </p:nvSpPr>
        <p:spPr>
          <a:xfrm>
            <a:off x="6057900" y="4075509"/>
            <a:ext cx="2514600" cy="4964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57900" y="4075509"/>
            <a:ext cx="2514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6057900" y="4075509"/>
            <a:ext cx="2514600" cy="49649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Justin / HaVoK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4640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885559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SEARCH LANDSCAPE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919758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Search Is Declining — AI Search Is Taking Over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792956" y="2070125"/>
            <a:ext cx="3564731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way consumers find movers is shifting dramatically. Instead of scrolling through Google's 10 blue links, people are now asking AI chatbots directly: "What are the best long-distance movers?"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792956" y="3527394"/>
            <a:ext cx="3564731" cy="1145791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2956" y="3527394"/>
            <a:ext cx="3564731" cy="114579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 is no longer "Are we on page 1 of Google?" — it's "Does ChatGPT recommend us?"</a:t>
            </a:r>
            <a:endParaRPr lang="en-US" sz="1397" dirty="0"/>
          </a:p>
        </p:txBody>
      </p:sp>
      <p:sp>
        <p:nvSpPr>
          <p:cNvPr id="10" name="Shape 7"/>
          <p:cNvSpPr/>
          <p:nvPr/>
        </p:nvSpPr>
        <p:spPr>
          <a:xfrm>
            <a:off x="4786313" y="2028434"/>
            <a:ext cx="1850231" cy="138036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4786313" y="2028434"/>
            <a:ext cx="1850231" cy="28575"/>
          </a:xfrm>
          <a:prstGeom prst="rect">
            <a:avLst/>
          </a:prstGeom>
          <a:solidFill>
            <a:srgbClr val="D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2028434"/>
            <a:ext cx="7144" cy="138036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786313" y="3401653"/>
            <a:ext cx="1850231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4786313" y="2028434"/>
            <a:ext cx="7144" cy="138036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2"/>
          <p:cNvSpPr/>
          <p:nvPr/>
        </p:nvSpPr>
        <p:spPr>
          <a:xfrm>
            <a:off x="4886325" y="2233929"/>
            <a:ext cx="165020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-25%</a:t>
            </a:r>
            <a:endParaRPr lang="en-US" sz="2862" dirty="0"/>
          </a:p>
        </p:txBody>
      </p:sp>
      <p:sp>
        <p:nvSpPr>
          <p:cNvPr id="16" name="Text 13"/>
          <p:cNvSpPr/>
          <p:nvPr/>
        </p:nvSpPr>
        <p:spPr>
          <a:xfrm>
            <a:off x="4886325" y="2705416"/>
            <a:ext cx="16502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drop in traditional search volume in 2026 (Gartner)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6722269" y="2028434"/>
            <a:ext cx="1850231" cy="13625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5"/>
          <p:cNvSpPr/>
          <p:nvPr/>
        </p:nvSpPr>
        <p:spPr>
          <a:xfrm>
            <a:off x="6722269" y="2028434"/>
            <a:ext cx="1850231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565356" y="2028434"/>
            <a:ext cx="7144" cy="136250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6722269" y="3383793"/>
            <a:ext cx="1850231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8"/>
          <p:cNvSpPr/>
          <p:nvPr/>
        </p:nvSpPr>
        <p:spPr>
          <a:xfrm>
            <a:off x="6722269" y="2028434"/>
            <a:ext cx="7144" cy="136250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6822281" y="2313933"/>
            <a:ext cx="165020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2B+</a:t>
            </a:r>
            <a:endParaRPr lang="en-US" sz="2862" dirty="0"/>
          </a:p>
        </p:txBody>
      </p:sp>
      <p:sp>
        <p:nvSpPr>
          <p:cNvPr id="23" name="Text 20"/>
          <p:cNvSpPr/>
          <p:nvPr/>
        </p:nvSpPr>
        <p:spPr>
          <a:xfrm>
            <a:off x="6822281" y="2785421"/>
            <a:ext cx="16502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users reached by Google AI Overviews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4786313" y="3476662"/>
            <a:ext cx="1850231" cy="12382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3476662"/>
            <a:ext cx="1850231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6" name="Shape 23"/>
          <p:cNvSpPr/>
          <p:nvPr/>
        </p:nvSpPr>
        <p:spPr>
          <a:xfrm>
            <a:off x="6629400" y="3476662"/>
            <a:ext cx="7144" cy="12382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4786313" y="4707731"/>
            <a:ext cx="1850231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5"/>
          <p:cNvSpPr/>
          <p:nvPr/>
        </p:nvSpPr>
        <p:spPr>
          <a:xfrm>
            <a:off x="4786313" y="3476662"/>
            <a:ext cx="7144" cy="12382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6"/>
          <p:cNvSpPr/>
          <p:nvPr/>
        </p:nvSpPr>
        <p:spPr>
          <a:xfrm>
            <a:off x="4886325" y="3700016"/>
            <a:ext cx="165020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800M</a:t>
            </a:r>
            <a:endParaRPr lang="en-US" sz="2862" dirty="0"/>
          </a:p>
        </p:txBody>
      </p:sp>
      <p:sp>
        <p:nvSpPr>
          <p:cNvPr id="30" name="Text 27"/>
          <p:cNvSpPr/>
          <p:nvPr/>
        </p:nvSpPr>
        <p:spPr>
          <a:xfrm>
            <a:off x="4886325" y="4171504"/>
            <a:ext cx="16502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served by ChatGPT every single week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6722269" y="3476662"/>
            <a:ext cx="1850231" cy="12382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29"/>
          <p:cNvSpPr/>
          <p:nvPr/>
        </p:nvSpPr>
        <p:spPr>
          <a:xfrm>
            <a:off x="6722269" y="3476662"/>
            <a:ext cx="1850231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33" name="Shape 30"/>
          <p:cNvSpPr/>
          <p:nvPr/>
        </p:nvSpPr>
        <p:spPr>
          <a:xfrm>
            <a:off x="8565356" y="3476662"/>
            <a:ext cx="7144" cy="12382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31"/>
          <p:cNvSpPr/>
          <p:nvPr/>
        </p:nvSpPr>
        <p:spPr>
          <a:xfrm>
            <a:off x="6722269" y="4707731"/>
            <a:ext cx="1850231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2"/>
          <p:cNvSpPr/>
          <p:nvPr/>
        </p:nvSpPr>
        <p:spPr>
          <a:xfrm>
            <a:off x="6722269" y="3476662"/>
            <a:ext cx="7144" cy="12382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Text 33"/>
          <p:cNvSpPr/>
          <p:nvPr/>
        </p:nvSpPr>
        <p:spPr>
          <a:xfrm>
            <a:off x="6822281" y="3708946"/>
            <a:ext cx="165020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100M+</a:t>
            </a:r>
            <a:endParaRPr lang="en-US" sz="2862" dirty="0"/>
          </a:p>
        </p:txBody>
      </p:sp>
      <p:sp>
        <p:nvSpPr>
          <p:cNvPr id="37" name="Text 34"/>
          <p:cNvSpPr/>
          <p:nvPr/>
        </p:nvSpPr>
        <p:spPr>
          <a:xfrm>
            <a:off x="6822281" y="4180433"/>
            <a:ext cx="16502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Queries processed by Perplexity monthly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14640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742684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VALIDATION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76883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and Reddit Directly Influence What AI Recommends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71500" y="1920078"/>
            <a:ext cx="3600450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Alex's core idea — using community platforms to shape AI recommendations — is backed by data: Reddit is a notable source LLMs draw from when answering queries.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571500" y="3563141"/>
            <a:ext cx="3600450" cy="1260091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3563141"/>
            <a:ext cx="3600450" cy="12600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presence on social platforms to influence AI is the right strategy. Execution and consistency determine impact.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4386263" y="1885559"/>
            <a:ext cx="2128838" cy="121463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4386263" y="1885559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9"/>
          <p:cNvSpPr/>
          <p:nvPr/>
        </p:nvSpPr>
        <p:spPr>
          <a:xfrm>
            <a:off x="6507956" y="1885559"/>
            <a:ext cx="7144" cy="121463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6263" y="3093048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4386263" y="1885559"/>
            <a:ext cx="28575" cy="1214633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529138" y="2354452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4929188" y="1992799"/>
            <a:ext cx="144303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captures 2–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3%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ChatGPT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(Profound/Semrush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research)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6657975" y="1885559"/>
            <a:ext cx="2128838" cy="121463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57975" y="1885559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Shape 16"/>
          <p:cNvSpPr/>
          <p:nvPr/>
        </p:nvSpPr>
        <p:spPr>
          <a:xfrm>
            <a:off x="8779669" y="1885559"/>
            <a:ext cx="7144" cy="121463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6657975" y="3093048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8"/>
          <p:cNvSpPr/>
          <p:nvPr/>
        </p:nvSpPr>
        <p:spPr>
          <a:xfrm>
            <a:off x="6657975" y="1885559"/>
            <a:ext cx="28575" cy="1214633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00850" y="2350880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2" dirty="0"/>
          </a:p>
        </p:txBody>
      </p:sp>
      <p:sp>
        <p:nvSpPr>
          <p:cNvPr id="23" name="Text 20"/>
          <p:cNvSpPr/>
          <p:nvPr/>
        </p:nvSpPr>
        <p:spPr>
          <a:xfrm>
            <a:off x="7200900" y="1989227"/>
            <a:ext cx="144303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 of Reddit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come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individual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threads,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main pages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386263" y="3235923"/>
            <a:ext cx="2128838" cy="162182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4386263" y="3235923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6507956" y="3235923"/>
            <a:ext cx="7144" cy="162182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4386263" y="4850606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5"/>
          <p:cNvSpPr/>
          <p:nvPr/>
        </p:nvSpPr>
        <p:spPr>
          <a:xfrm>
            <a:off x="4386263" y="3235923"/>
            <a:ext cx="28575" cy="1621827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529138" y="3908413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2" dirty="0"/>
          </a:p>
        </p:txBody>
      </p:sp>
      <p:sp>
        <p:nvSpPr>
          <p:cNvPr id="30" name="Text 27"/>
          <p:cNvSpPr/>
          <p:nvPr/>
        </p:nvSpPr>
        <p:spPr>
          <a:xfrm>
            <a:off x="4929188" y="3446748"/>
            <a:ext cx="144303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Low-engagement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get cited: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AI-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posts had far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comments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upvotes than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viral posts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6657975" y="3235923"/>
            <a:ext cx="2128838" cy="162182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29"/>
          <p:cNvSpPr/>
          <p:nvPr/>
        </p:nvSpPr>
        <p:spPr>
          <a:xfrm>
            <a:off x="6657975" y="3235923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3" name="Shape 30"/>
          <p:cNvSpPr/>
          <p:nvPr/>
        </p:nvSpPr>
        <p:spPr>
          <a:xfrm>
            <a:off x="8779669" y="3235923"/>
            <a:ext cx="7144" cy="162182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31"/>
          <p:cNvSpPr/>
          <p:nvPr/>
        </p:nvSpPr>
        <p:spPr>
          <a:xfrm>
            <a:off x="6657975" y="4850606"/>
            <a:ext cx="21288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2"/>
          <p:cNvSpPr/>
          <p:nvPr/>
        </p:nvSpPr>
        <p:spPr>
          <a:xfrm>
            <a:off x="6657975" y="3235923"/>
            <a:ext cx="28575" cy="1621827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800850" y="3911984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2" dirty="0"/>
          </a:p>
        </p:txBody>
      </p:sp>
      <p:sp>
        <p:nvSpPr>
          <p:cNvPr id="37" name="Text 34"/>
          <p:cNvSpPr/>
          <p:nvPr/>
        </p:nvSpPr>
        <p:spPr>
          <a:xfrm>
            <a:off x="7200900" y="3350307"/>
            <a:ext cx="1443038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favor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earned media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(community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discussions, third-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party reviews) over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brand-owned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13926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671247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WARNING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76883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FTC Now Penalizes Fake Posts Up to $53,088 Per Violation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71500" y="1814122"/>
            <a:ext cx="3200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the goal is correct, posting manufactured questions and answers on Reddit (known as "astroturfing") is now explicitly illegal under federal law.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3360520"/>
            <a:ext cx="3200400" cy="1640105"/>
          </a:xfrm>
          <a:prstGeom prst="rect">
            <a:avLst/>
          </a:prstGeom>
          <a:solidFill>
            <a:srgbClr val="D00000">
              <a:alpha val="5000"/>
            </a:srgbClr>
          </a:solidFill>
          <a:ln w="18288">
            <a:solidFill>
              <a:srgbClr val="D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3360520"/>
            <a:ext cx="3200400" cy="164010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CATASTROPHIC RISK: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14 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 under one umbrella, 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caught would be 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devastating — one scandal could 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damage all companies 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simultaneously.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3943350" y="1814122"/>
            <a:ext cx="4800600" cy="7858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3943350" y="1814122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9"/>
          <p:cNvSpPr/>
          <p:nvPr/>
        </p:nvSpPr>
        <p:spPr>
          <a:xfrm>
            <a:off x="8736806" y="1814122"/>
            <a:ext cx="7144" cy="7858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3943350" y="2592791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3943350" y="1814122"/>
            <a:ext cx="28575" cy="785813"/>
          </a:xfrm>
          <a:prstGeom prst="rect">
            <a:avLst/>
          </a:prstGeom>
          <a:solidFill>
            <a:srgbClr val="D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029075" y="1899847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4357688" y="1899847"/>
            <a:ext cx="43005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Consumer Reviews Rule: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Effective Oct 21, 2024,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prohibits businesses from creating or disseminating fake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or testimonials.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3943350" y="2642797"/>
            <a:ext cx="4800600" cy="5857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5"/>
          <p:cNvSpPr/>
          <p:nvPr/>
        </p:nvSpPr>
        <p:spPr>
          <a:xfrm>
            <a:off x="3943350" y="2642797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Shape 16"/>
          <p:cNvSpPr/>
          <p:nvPr/>
        </p:nvSpPr>
        <p:spPr>
          <a:xfrm>
            <a:off x="8736806" y="2642797"/>
            <a:ext cx="7144" cy="5857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3943350" y="3221441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8"/>
          <p:cNvSpPr/>
          <p:nvPr/>
        </p:nvSpPr>
        <p:spPr>
          <a:xfrm>
            <a:off x="3943350" y="2642797"/>
            <a:ext cx="28575" cy="585788"/>
          </a:xfrm>
          <a:prstGeom prst="rect">
            <a:avLst/>
          </a:prstGeom>
          <a:solidFill>
            <a:srgbClr val="D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4029075" y="2728522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4357688" y="2728522"/>
            <a:ext cx="4300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Financial Penalties: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Civil penalties reach $53,088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violation as of 2025.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3943350" y="3271447"/>
            <a:ext cx="4800600" cy="5857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3943350" y="3271447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8736806" y="3271447"/>
            <a:ext cx="7144" cy="5857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3943350" y="3850091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5"/>
          <p:cNvSpPr/>
          <p:nvPr/>
        </p:nvSpPr>
        <p:spPr>
          <a:xfrm>
            <a:off x="3943350" y="3271447"/>
            <a:ext cx="28575" cy="585788"/>
          </a:xfrm>
          <a:prstGeom prst="rect">
            <a:avLst/>
          </a:prstGeom>
          <a:solidFill>
            <a:srgbClr val="D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029075" y="3357172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397" dirty="0"/>
          </a:p>
        </p:txBody>
      </p:sp>
      <p:sp>
        <p:nvSpPr>
          <p:cNvPr id="30" name="Text 27"/>
          <p:cNvSpPr/>
          <p:nvPr/>
        </p:nvSpPr>
        <p:spPr>
          <a:xfrm>
            <a:off x="4357688" y="3357172"/>
            <a:ext cx="4300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Enforcement: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FTC sent warning letters to 10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companies in December 2025 as its first enforcement action.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3943350" y="3900097"/>
            <a:ext cx="4800600" cy="7858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29"/>
          <p:cNvSpPr/>
          <p:nvPr/>
        </p:nvSpPr>
        <p:spPr>
          <a:xfrm>
            <a:off x="3943350" y="3900097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3" name="Shape 30"/>
          <p:cNvSpPr/>
          <p:nvPr/>
        </p:nvSpPr>
        <p:spPr>
          <a:xfrm>
            <a:off x="8736806" y="3900097"/>
            <a:ext cx="7144" cy="78581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31"/>
          <p:cNvSpPr/>
          <p:nvPr/>
        </p:nvSpPr>
        <p:spPr>
          <a:xfrm>
            <a:off x="3943350" y="4678766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2"/>
          <p:cNvSpPr/>
          <p:nvPr/>
        </p:nvSpPr>
        <p:spPr>
          <a:xfrm>
            <a:off x="3943350" y="3900097"/>
            <a:ext cx="28575" cy="785813"/>
          </a:xfrm>
          <a:prstGeom prst="rect">
            <a:avLst/>
          </a:prstGeom>
          <a:solidFill>
            <a:srgbClr val="D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4029075" y="3985822"/>
            <a:ext cx="214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D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397" dirty="0"/>
          </a:p>
        </p:txBody>
      </p:sp>
      <p:sp>
        <p:nvSpPr>
          <p:cNvPr id="37" name="Text 34"/>
          <p:cNvSpPr/>
          <p:nvPr/>
        </p:nvSpPr>
        <p:spPr>
          <a:xfrm>
            <a:off x="4357688" y="3985822"/>
            <a:ext cx="43005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Backlash: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Reddit actively detects and bans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astroturfing; 63.2% of Reddit threads ranking for branded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are negative toward the brand.</a:t>
            </a:r>
            <a:endParaRPr lang="en-US" sz="98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14355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714109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ASSET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76883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14 Brands Are a Massive Competitive Advantage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71500" y="1799834"/>
            <a:ext cx="44005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keyword-rich domains are a major asset for AI search — exact-match domains are what AI recommends.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2314184"/>
            <a:ext cx="4400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Long-Distance / Cross-Country Moving brands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2530283"/>
            <a:ext cx="4400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Auto Transport brands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746381"/>
            <a:ext cx="4400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General Moving brands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2962480"/>
            <a:ext cx="4400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Regional / Route-Specific brands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3178578"/>
            <a:ext cx="44005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Interstate Moving brand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571500" y="3508977"/>
            <a:ext cx="4400550" cy="568598"/>
          </a:xfrm>
          <a:prstGeom prst="rect">
            <a:avLst/>
          </a:prstGeom>
          <a:solidFill>
            <a:srgbClr val="38B000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508977"/>
            <a:ext cx="4400550" cy="7144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964906" y="3508977"/>
            <a:ext cx="7144" cy="568598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4070431"/>
            <a:ext cx="4400550" cy="7144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508977"/>
            <a:ext cx="28575" cy="568598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508977"/>
            <a:ext cx="4400550" cy="56859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competitors have one brand. We have 14 — allowing multiple AI recommendation slots.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5372100" y="1799834"/>
            <a:ext cx="3200400" cy="3286516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891" y="2352777"/>
            <a:ext cx="2294790" cy="200022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95392" y="4395890"/>
            <a:ext cx="19538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Sales Force Domain Portfolio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16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13040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582675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PARADIGM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76883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Is the Legitimate, Scalable Way to Win AI Recommendations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571500" y="1725550"/>
            <a:ext cx="3600450" cy="16458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Engine Optimization (GEO)</a:t>
            </a: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practice of structuring a brand's </a:t>
            </a: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presence so that AI-powered </a:t>
            </a: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platforms can retrieve, cite, and </a:t>
            </a: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it. Think of it as SEO for the </a:t>
            </a: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era.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3628579"/>
            <a:ext cx="3600450" cy="1450181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3628579"/>
            <a:ext cx="3600450" cy="145018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is now a recognized discipline with dedicated conferences, agency specializations, and purpose-built tools. This is not experimental — it's mainstream.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4491968" y="1725550"/>
            <a:ext cx="1957388" cy="1173361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20555" y="1854138"/>
            <a:ext cx="17002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SEO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620555" y="2113099"/>
            <a:ext cx="17002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on Google's page 1 among 10 blue links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6535080" y="1725550"/>
            <a:ext cx="1957388" cy="1173361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63668" y="1854138"/>
            <a:ext cx="17002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STRATEGY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663668" y="2113099"/>
            <a:ext cx="17002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Being one of 2-7 brands an AI engine names in its answer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491968" y="3027499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 IN TACTICS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4491968" y="3325750"/>
            <a:ext cx="1957388" cy="1173361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20555" y="3454338"/>
            <a:ext cx="17002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RELIES ON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620555" y="3713299"/>
            <a:ext cx="17002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density, backlinks, and technical site structure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6535080" y="3325750"/>
            <a:ext cx="1957388" cy="1173361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63668" y="3454338"/>
            <a:ext cx="17002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RELIES ON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6663668" y="3713299"/>
            <a:ext cx="17002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authority, earned media, structured data, and freshness</a:t>
            </a:r>
            <a:endParaRPr lang="en-US" sz="9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13354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614097"/>
            <a:ext cx="828675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TECHNICAL FOUNDATION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705445"/>
            <a:ext cx="8286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All 14 Websites AI-Ready with Technical Optimization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1814122"/>
            <a:ext cx="3314700" cy="13715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step is ensuring AI engines can properly read and understand our websites. Most businesses skip this step entirely, giving us an immediate advantage.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428625" y="3314254"/>
            <a:ext cx="3314700" cy="35897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3323183"/>
            <a:ext cx="1000125" cy="326827"/>
          </a:xfrm>
          <a:prstGeom prst="rect">
            <a:avLst/>
          </a:prstGeom>
          <a:solidFill>
            <a:srgbClr val="38B000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21606" y="3323183"/>
            <a:ext cx="7144" cy="32682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3323183"/>
            <a:ext cx="1000125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428750" y="3314254"/>
            <a:ext cx="821531" cy="34468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Weeks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428625" y="3716089"/>
            <a:ext cx="3314700" cy="35897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8625" y="3725019"/>
            <a:ext cx="1000125" cy="326827"/>
          </a:xfrm>
          <a:prstGeom prst="rect">
            <a:avLst/>
          </a:prstGeom>
          <a:solidFill>
            <a:srgbClr val="38B000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421606" y="3725019"/>
            <a:ext cx="7144" cy="32682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3725019"/>
            <a:ext cx="1000125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428750" y="3716089"/>
            <a:ext cx="510778" cy="34468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4117925"/>
            <a:ext cx="3314700" cy="532209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8625" y="4213473"/>
            <a:ext cx="915488" cy="326827"/>
          </a:xfrm>
          <a:prstGeom prst="rect">
            <a:avLst/>
          </a:prstGeom>
          <a:solidFill>
            <a:srgbClr val="38B000">
              <a:alpha val="1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336970" y="4213473"/>
            <a:ext cx="7144" cy="32682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4213473"/>
            <a:ext cx="915488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1343555" y="4117925"/>
            <a:ext cx="2399770" cy="51792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— Foundation for everything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3914775" y="1814122"/>
            <a:ext cx="2428875" cy="174327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1"/>
          <p:cNvSpPr/>
          <p:nvPr/>
        </p:nvSpPr>
        <p:spPr>
          <a:xfrm>
            <a:off x="3914775" y="1814122"/>
            <a:ext cx="2428875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5" name="Shape 22"/>
          <p:cNvSpPr/>
          <p:nvPr/>
        </p:nvSpPr>
        <p:spPr>
          <a:xfrm>
            <a:off x="6336506" y="1814122"/>
            <a:ext cx="7144" cy="174327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3914775" y="3550248"/>
            <a:ext cx="2428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3914775" y="1814122"/>
            <a:ext cx="7144" cy="174327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5"/>
          <p:cNvSpPr/>
          <p:nvPr/>
        </p:nvSpPr>
        <p:spPr>
          <a:xfrm>
            <a:off x="4029075" y="2014147"/>
            <a:ext cx="23395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97" dirty="0"/>
          </a:p>
        </p:txBody>
      </p:sp>
      <p:sp>
        <p:nvSpPr>
          <p:cNvPr id="29" name="Text 26"/>
          <p:cNvSpPr/>
          <p:nvPr/>
        </p:nvSpPr>
        <p:spPr>
          <a:xfrm>
            <a:off x="4348758" y="1928422"/>
            <a:ext cx="188059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Markup Implementation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4029075" y="2399909"/>
            <a:ext cx="2200275" cy="964406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structured data (Organization, LocalBusiness, FAQ, Review) to all 14 sites so AI engines can parse our content and services.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6457950" y="1814122"/>
            <a:ext cx="2428875" cy="174327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29"/>
          <p:cNvSpPr/>
          <p:nvPr/>
        </p:nvSpPr>
        <p:spPr>
          <a:xfrm>
            <a:off x="6457950" y="1814122"/>
            <a:ext cx="2428875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33" name="Shape 30"/>
          <p:cNvSpPr/>
          <p:nvPr/>
        </p:nvSpPr>
        <p:spPr>
          <a:xfrm>
            <a:off x="8879681" y="1814122"/>
            <a:ext cx="7144" cy="174327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31"/>
          <p:cNvSpPr/>
          <p:nvPr/>
        </p:nvSpPr>
        <p:spPr>
          <a:xfrm>
            <a:off x="6457950" y="3550248"/>
            <a:ext cx="2428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2"/>
          <p:cNvSpPr/>
          <p:nvPr/>
        </p:nvSpPr>
        <p:spPr>
          <a:xfrm>
            <a:off x="6457950" y="1814122"/>
            <a:ext cx="7144" cy="174327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Text 33"/>
          <p:cNvSpPr/>
          <p:nvPr/>
        </p:nvSpPr>
        <p:spPr>
          <a:xfrm>
            <a:off x="6572250" y="2014147"/>
            <a:ext cx="2714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97" dirty="0"/>
          </a:p>
        </p:txBody>
      </p:sp>
      <p:sp>
        <p:nvSpPr>
          <p:cNvPr id="37" name="Text 34"/>
          <p:cNvSpPr/>
          <p:nvPr/>
        </p:nvSpPr>
        <p:spPr>
          <a:xfrm>
            <a:off x="6929438" y="1928422"/>
            <a:ext cx="18430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FAQ Development</a:t>
            </a:r>
            <a:endParaRPr lang="en-US" sz="1193" dirty="0"/>
          </a:p>
        </p:txBody>
      </p:sp>
      <p:sp>
        <p:nvSpPr>
          <p:cNvPr id="38" name="Text 35"/>
          <p:cNvSpPr/>
          <p:nvPr/>
        </p:nvSpPr>
        <p:spPr>
          <a:xfrm>
            <a:off x="6572250" y="2399909"/>
            <a:ext cx="2200275" cy="964406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detailed FAQ pages on every site answering key customer questions — AI engines rely heavily on Q&amp;A pairs.</a:t>
            </a:r>
            <a:endParaRPr lang="en-US" sz="885" dirty="0"/>
          </a:p>
        </p:txBody>
      </p:sp>
      <p:sp>
        <p:nvSpPr>
          <p:cNvPr id="39" name="Shape 36"/>
          <p:cNvSpPr/>
          <p:nvPr/>
        </p:nvSpPr>
        <p:spPr>
          <a:xfrm>
            <a:off x="3914775" y="3653833"/>
            <a:ext cx="4972050" cy="12039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Shape 37"/>
          <p:cNvSpPr/>
          <p:nvPr/>
        </p:nvSpPr>
        <p:spPr>
          <a:xfrm>
            <a:off x="3914775" y="3653833"/>
            <a:ext cx="4972050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41" name="Shape 38"/>
          <p:cNvSpPr/>
          <p:nvPr/>
        </p:nvSpPr>
        <p:spPr>
          <a:xfrm>
            <a:off x="8879681" y="3653833"/>
            <a:ext cx="7144" cy="120391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2" name="Shape 39"/>
          <p:cNvSpPr/>
          <p:nvPr/>
        </p:nvSpPr>
        <p:spPr>
          <a:xfrm>
            <a:off x="3914775" y="4850606"/>
            <a:ext cx="497205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3" name="Shape 40"/>
          <p:cNvSpPr/>
          <p:nvPr/>
        </p:nvSpPr>
        <p:spPr>
          <a:xfrm>
            <a:off x="3914775" y="3653833"/>
            <a:ext cx="7144" cy="120391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4" name="Text 41"/>
          <p:cNvSpPr/>
          <p:nvPr/>
        </p:nvSpPr>
        <p:spPr>
          <a:xfrm>
            <a:off x="4029075" y="3785992"/>
            <a:ext cx="27682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97" dirty="0"/>
          </a:p>
        </p:txBody>
      </p:sp>
      <p:sp>
        <p:nvSpPr>
          <p:cNvPr id="45" name="Text 42"/>
          <p:cNvSpPr/>
          <p:nvPr/>
        </p:nvSpPr>
        <p:spPr>
          <a:xfrm>
            <a:off x="4391620" y="3803852"/>
            <a:ext cx="157341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Crawler Access</a:t>
            </a:r>
            <a:endParaRPr lang="en-US" sz="1193" dirty="0"/>
          </a:p>
        </p:txBody>
      </p:sp>
      <p:sp>
        <p:nvSpPr>
          <p:cNvPr id="46" name="Text 43"/>
          <p:cNvSpPr/>
          <p:nvPr/>
        </p:nvSpPr>
        <p:spPr>
          <a:xfrm>
            <a:off x="4029075" y="4086030"/>
            <a:ext cx="4743450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robots.txt files across all domains to ensure GPTBot, ClaudeBot, and PerplexityBot are not blocked; add llms.txt files to guide AI interpretation.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11983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476970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ENTITY AUTHORITY (MONTHS 1-3)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05445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Brand Signals So AI Engines Recommend Us with Confidence</a:t>
            </a:r>
            <a:endParaRPr lang="en-US" sz="2016" dirty="0"/>
          </a:p>
        </p:txBody>
      </p:sp>
      <p:sp>
        <p:nvSpPr>
          <p:cNvPr id="7" name="Text 4"/>
          <p:cNvSpPr/>
          <p:nvPr/>
        </p:nvSpPr>
        <p:spPr>
          <a:xfrm>
            <a:off x="571500" y="1619845"/>
            <a:ext cx="32004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cross-reference multiple signals before recommending a business. The stronger and more consistent our brand presence is across the web, the more likely AI will cite us.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3372855"/>
            <a:ext cx="3200400" cy="1351955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7225" y="3467509"/>
            <a:ext cx="857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1514475" y="3458580"/>
            <a:ext cx="7625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1-3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57225" y="3712183"/>
            <a:ext cx="857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514475" y="3703253"/>
            <a:ext cx="5500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57225" y="3956856"/>
            <a:ext cx="857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514475" y="3947926"/>
            <a:ext cx="6732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High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57225" y="4249750"/>
            <a:ext cx="3028950" cy="375047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Earned media is the #1 factor AI engines use for recommendations.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3986213" y="1619845"/>
            <a:ext cx="4800600" cy="105013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4"/>
          <p:cNvSpPr/>
          <p:nvPr/>
        </p:nvSpPr>
        <p:spPr>
          <a:xfrm>
            <a:off x="3986213" y="1619845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Shape 15"/>
          <p:cNvSpPr/>
          <p:nvPr/>
        </p:nvSpPr>
        <p:spPr>
          <a:xfrm>
            <a:off x="8779669" y="1619845"/>
            <a:ext cx="7144" cy="105013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Shape 16"/>
          <p:cNvSpPr/>
          <p:nvPr/>
        </p:nvSpPr>
        <p:spPr>
          <a:xfrm>
            <a:off x="3986213" y="2662833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3986213" y="1619845"/>
            <a:ext cx="28575" cy="1050131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1" name="Text 18"/>
          <p:cNvSpPr/>
          <p:nvPr/>
        </p:nvSpPr>
        <p:spPr>
          <a:xfrm>
            <a:off x="4071938" y="1705570"/>
            <a:ext cx="23395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4391620" y="1723430"/>
            <a:ext cx="193059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Directory Consistency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4071938" y="1991320"/>
            <a:ext cx="4629150" cy="5786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Name, Address, and Phone (NAP) data is consistent across Google Business Profile, Yelp, BBB, Trustpilot, and industry directories for all 14 brands.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3986213" y="2741414"/>
            <a:ext cx="4800600" cy="105013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3986213" y="2741414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8779669" y="2741414"/>
            <a:ext cx="7144" cy="105013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3986213" y="3784402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5"/>
          <p:cNvSpPr/>
          <p:nvPr/>
        </p:nvSpPr>
        <p:spPr>
          <a:xfrm>
            <a:off x="3986213" y="2741414"/>
            <a:ext cx="28575" cy="1050131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071938" y="2827139"/>
            <a:ext cx="2714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97" dirty="0"/>
          </a:p>
        </p:txBody>
      </p:sp>
      <p:sp>
        <p:nvSpPr>
          <p:cNvPr id="30" name="Text 27"/>
          <p:cNvSpPr/>
          <p:nvPr/>
        </p:nvSpPr>
        <p:spPr>
          <a:xfrm>
            <a:off x="4429125" y="2844998"/>
            <a:ext cx="23645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Review Generation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4071938" y="3112889"/>
            <a:ext cx="4629150" cy="5786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Systematically request reviews from satisfied customers; genuine positive reviews across multiple platforms are a primary AI recommendation signal.</a:t>
            </a:r>
            <a:endParaRPr lang="en-US" sz="885" dirty="0"/>
          </a:p>
        </p:txBody>
      </p:sp>
      <p:sp>
        <p:nvSpPr>
          <p:cNvPr id="32" name="Shape 29"/>
          <p:cNvSpPr/>
          <p:nvPr/>
        </p:nvSpPr>
        <p:spPr>
          <a:xfrm>
            <a:off x="3986213" y="3862983"/>
            <a:ext cx="4800600" cy="8572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Shape 30"/>
          <p:cNvSpPr/>
          <p:nvPr/>
        </p:nvSpPr>
        <p:spPr>
          <a:xfrm>
            <a:off x="3986213" y="3862983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31"/>
          <p:cNvSpPr/>
          <p:nvPr/>
        </p:nvSpPr>
        <p:spPr>
          <a:xfrm>
            <a:off x="8779669" y="3862983"/>
            <a:ext cx="7144" cy="8572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2"/>
          <p:cNvSpPr/>
          <p:nvPr/>
        </p:nvSpPr>
        <p:spPr>
          <a:xfrm>
            <a:off x="3986213" y="4713089"/>
            <a:ext cx="48006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Shape 33"/>
          <p:cNvSpPr/>
          <p:nvPr/>
        </p:nvSpPr>
        <p:spPr>
          <a:xfrm>
            <a:off x="3986213" y="3862983"/>
            <a:ext cx="28575" cy="857250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37" name="Text 34"/>
          <p:cNvSpPr/>
          <p:nvPr/>
        </p:nvSpPr>
        <p:spPr>
          <a:xfrm>
            <a:off x="4071938" y="3948708"/>
            <a:ext cx="27682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97" dirty="0"/>
          </a:p>
        </p:txBody>
      </p:sp>
      <p:sp>
        <p:nvSpPr>
          <p:cNvPr id="38" name="Text 35"/>
          <p:cNvSpPr/>
          <p:nvPr/>
        </p:nvSpPr>
        <p:spPr>
          <a:xfrm>
            <a:off x="4434483" y="3966567"/>
            <a:ext cx="17270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PR Campaign</a:t>
            </a:r>
            <a:endParaRPr lang="en-US" sz="1193" dirty="0"/>
          </a:p>
        </p:txBody>
      </p:sp>
      <p:sp>
        <p:nvSpPr>
          <p:cNvPr id="39" name="Text 36"/>
          <p:cNvSpPr/>
          <p:nvPr/>
        </p:nvSpPr>
        <p:spPr>
          <a:xfrm>
            <a:off x="4071938" y="4234458"/>
            <a:ext cx="4629150" cy="38576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Pursue earned media by pitching moving tips and industry insights to local news, industry publications, and "best movers" roundup articles.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11983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476970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— AUTHENTIC COMMUNITY ENGAGEMENT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05445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Reddit the Right Way — With Genuine Expertise, Not Fake Posts</a:t>
            </a:r>
            <a:endParaRPr lang="en-US" sz="2016" dirty="0"/>
          </a:p>
        </p:txBody>
      </p:sp>
      <p:sp>
        <p:nvSpPr>
          <p:cNvPr id="7" name="Text 4"/>
          <p:cNvSpPr/>
          <p:nvPr/>
        </p:nvSpPr>
        <p:spPr>
          <a:xfrm>
            <a:off x="571500" y="1619845"/>
            <a:ext cx="3600450" cy="1645853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manufacturing fake Reddit discussions, we deploy knowledgeable team members to participate authentically in moving-related communities. This builds the exact kind of organic presence that AI engines trust and cite.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3498652"/>
            <a:ext cx="3600450" cy="1516261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1513" y="3612952"/>
            <a:ext cx="34004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WORKS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71513" y="3843338"/>
            <a:ext cx="3400425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specifically look for authentic community discussions. A genuine, helpful answer from a real expert carries far more weight than a manufactured post — and it's completely legal and risk-free.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4491968" y="1619845"/>
            <a:ext cx="4000500" cy="792956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1980" y="1719858"/>
            <a:ext cx="1196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797363" y="1719858"/>
            <a:ext cx="3595092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Participate in relevant subreddits: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r/moving, 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r/MovingDay, r/personalfinance, r/Frugal, and city-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subreddits.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491968" y="2484239"/>
            <a:ext cx="4000500" cy="792956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1980" y="2584252"/>
            <a:ext cx="1196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797363" y="2584252"/>
            <a:ext cx="3595092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real questions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genuinely helpful moving 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advice (packing tips, cost estimates, timing 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recommendations).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4491968" y="3348633"/>
            <a:ext cx="4000500" cy="60007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1980" y="3448645"/>
            <a:ext cx="1196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797363" y="3448645"/>
            <a:ext cx="35950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overt brand promotion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just authentic expertise that 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trust and entity authority over time.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4491968" y="4020145"/>
            <a:ext cx="4000500" cy="60007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1980" y="4120158"/>
            <a:ext cx="1196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797363" y="4120158"/>
            <a:ext cx="35950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industry knowledge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appropriate that </a:t>
            </a: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naturally positions our team as moving experts.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42875"/>
            <a:ext cx="8001000" cy="11983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34095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 — CONTENT LEADERSHIP (MONTHS 3-12)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56257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Original Data and Research That AI Engines Must Cite</a:t>
            </a:r>
            <a:endParaRPr lang="en-US" sz="2016" dirty="0"/>
          </a:p>
        </p:txBody>
      </p:sp>
      <p:sp>
        <p:nvSpPr>
          <p:cNvPr id="7" name="Text 4"/>
          <p:cNvSpPr/>
          <p:nvPr/>
        </p:nvSpPr>
        <p:spPr>
          <a:xfrm>
            <a:off x="571500" y="1448395"/>
            <a:ext cx="3600450" cy="13715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ultimate GEO strategy is creating content that no one else has. When we publish proprietary data and original research, AI engines have a unique reason to cite us over every competitor.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2962815"/>
            <a:ext cx="3600450" cy="1637705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1513" y="3062827"/>
            <a:ext cx="34004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MULTI-BRAND ADVANTAGE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71513" y="3307500"/>
            <a:ext cx="3400425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ChatGPT lists the "best long-distance movers," we don't just want one slot — we want three or four. With 14 differentiated brands, this is entirely achievable through legitimate means.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572000" y="1448395"/>
            <a:ext cx="4000500" cy="151268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448395"/>
            <a:ext cx="4000500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8565356" y="1448395"/>
            <a:ext cx="7144" cy="151268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2953941"/>
            <a:ext cx="40005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1448395"/>
            <a:ext cx="7144" cy="151268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588" y="1576983"/>
            <a:ext cx="26610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5073848" y="1602879"/>
            <a:ext cx="243066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Research Reports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4700588" y="1939528"/>
            <a:ext cx="3743325" cy="857250"/>
          </a:xfrm>
          <a:prstGeom prst="rect">
            <a:avLst/>
          </a:prstGeom>
          <a:noFill/>
          <a:ln/>
        </p:spPr>
        <p:txBody>
          <a:bodyPr wrap="square" lIns="399669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data like "Average Moving Costs by State in 2026" or "The State of Long-Distance Moving in America" using our operational data across 14 brands.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4572000" y="3039666"/>
            <a:ext cx="4000500" cy="172700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3039666"/>
            <a:ext cx="4000500" cy="28575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565356" y="3039666"/>
            <a:ext cx="7144" cy="17270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0" y="4759523"/>
            <a:ext cx="40005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0" y="3039666"/>
            <a:ext cx="7144" cy="17270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1"/>
          <p:cNvSpPr/>
          <p:nvPr/>
        </p:nvSpPr>
        <p:spPr>
          <a:xfrm>
            <a:off x="4700588" y="3168253"/>
            <a:ext cx="31075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2" dirty="0"/>
          </a:p>
        </p:txBody>
      </p:sp>
      <p:sp>
        <p:nvSpPr>
          <p:cNvPr id="25" name="Text 22"/>
          <p:cNvSpPr/>
          <p:nvPr/>
        </p:nvSpPr>
        <p:spPr>
          <a:xfrm>
            <a:off x="5118497" y="3194149"/>
            <a:ext cx="252710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Multi-Brand Differentiation</a:t>
            </a:r>
            <a:endParaRPr lang="en-US" sz="1295" dirty="0"/>
          </a:p>
        </p:txBody>
      </p:sp>
      <p:sp>
        <p:nvSpPr>
          <p:cNvPr id="26" name="Text 23"/>
          <p:cNvSpPr/>
          <p:nvPr/>
        </p:nvSpPr>
        <p:spPr>
          <a:xfrm>
            <a:off x="4700588" y="3530798"/>
            <a:ext cx="3743325" cy="1071563"/>
          </a:xfrm>
          <a:prstGeom prst="rect">
            <a:avLst/>
          </a:prstGeom>
          <a:noFill/>
          <a:ln/>
        </p:spPr>
        <p:txBody>
          <a:bodyPr wrap="square" lIns="399669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each brand with a distinct identity (budget-friendly, premium service, fastest delivery, best auto transport) so the conglomerate captures multiple AI recommendation slots simultaneously.</a:t>
            </a:r>
            <a:endParaRPr lang="en-US" sz="98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8583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36917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TIMELINE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05445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12-Month Roadmap to AI Search Dominance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714375" y="1351229"/>
            <a:ext cx="1714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571750" y="1351229"/>
            <a:ext cx="10001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3714750" y="1351229"/>
            <a:ext cx="2286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AREA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143625" y="1351229"/>
            <a:ext cx="2286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IMPACT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571500" y="1581615"/>
            <a:ext cx="8001000" cy="53717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581615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8565356" y="1581615"/>
            <a:ext cx="7144" cy="53717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111648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1581615"/>
            <a:ext cx="28575" cy="537177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28650" y="1638765"/>
            <a:ext cx="1714500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Foundation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2486025" y="1756442"/>
            <a:ext cx="10001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1-4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629025" y="1753037"/>
            <a:ext cx="23717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markup, FAQs, AI crawlability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6143625" y="1663043"/>
            <a:ext cx="2371725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can read and index all 14 sites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571500" y="2161654"/>
            <a:ext cx="8001000" cy="53717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2161654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Shape 19"/>
          <p:cNvSpPr/>
          <p:nvPr/>
        </p:nvSpPr>
        <p:spPr>
          <a:xfrm>
            <a:off x="8565356" y="2161654"/>
            <a:ext cx="7144" cy="53717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2691687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2161654"/>
            <a:ext cx="28575" cy="537177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25" name="Text 22"/>
          <p:cNvSpPr/>
          <p:nvPr/>
        </p:nvSpPr>
        <p:spPr>
          <a:xfrm>
            <a:off x="628650" y="2218804"/>
            <a:ext cx="1714500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Authority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2486025" y="2336481"/>
            <a:ext cx="10001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1-3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3629025" y="2333076"/>
            <a:ext cx="23717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Reviews, directories, digital PR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6143625" y="2243082"/>
            <a:ext cx="2371725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 begin appearing in AI recommendations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571500" y="2741693"/>
            <a:ext cx="8001000" cy="74147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2741693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1" name="Shape 28"/>
          <p:cNvSpPr/>
          <p:nvPr/>
        </p:nvSpPr>
        <p:spPr>
          <a:xfrm>
            <a:off x="8565356" y="2741693"/>
            <a:ext cx="7144" cy="7414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3476020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3" name="Shape 30"/>
          <p:cNvSpPr/>
          <p:nvPr/>
        </p:nvSpPr>
        <p:spPr>
          <a:xfrm>
            <a:off x="571500" y="2741693"/>
            <a:ext cx="28575" cy="741471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28650" y="2798843"/>
            <a:ext cx="1714500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2486025" y="3018653"/>
            <a:ext cx="10001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3629025" y="2925254"/>
            <a:ext cx="2371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 Reddit and social participation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6143625" y="3015276"/>
            <a:ext cx="2371725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mentions fuel AI citations</a:t>
            </a:r>
            <a:endParaRPr lang="en-US" sz="885" dirty="0"/>
          </a:p>
        </p:txBody>
      </p:sp>
      <p:sp>
        <p:nvSpPr>
          <p:cNvPr id="38" name="Shape 35"/>
          <p:cNvSpPr/>
          <p:nvPr/>
        </p:nvSpPr>
        <p:spPr>
          <a:xfrm>
            <a:off x="571500" y="3526027"/>
            <a:ext cx="8001000" cy="53717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Shape 36"/>
          <p:cNvSpPr/>
          <p:nvPr/>
        </p:nvSpPr>
        <p:spPr>
          <a:xfrm>
            <a:off x="571500" y="3526027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Shape 37"/>
          <p:cNvSpPr/>
          <p:nvPr/>
        </p:nvSpPr>
        <p:spPr>
          <a:xfrm>
            <a:off x="8565356" y="3526027"/>
            <a:ext cx="7144" cy="53717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1" name="Shape 38"/>
          <p:cNvSpPr/>
          <p:nvPr/>
        </p:nvSpPr>
        <p:spPr>
          <a:xfrm>
            <a:off x="571500" y="4056059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" y="3526027"/>
            <a:ext cx="28575" cy="537177"/>
          </a:xfrm>
          <a:prstGeom prst="rect">
            <a:avLst/>
          </a:prstGeom>
          <a:solidFill>
            <a:srgbClr val="38B000"/>
          </a:solidFill>
          <a:ln/>
        </p:spPr>
      </p:sp>
      <p:sp>
        <p:nvSpPr>
          <p:cNvPr id="43" name="Text 40"/>
          <p:cNvSpPr/>
          <p:nvPr/>
        </p:nvSpPr>
        <p:spPr>
          <a:xfrm>
            <a:off x="628650" y="3583177"/>
            <a:ext cx="1714500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Leadership</a:t>
            </a:r>
            <a:endParaRPr lang="en-US" sz="1090" dirty="0"/>
          </a:p>
        </p:txBody>
      </p:sp>
      <p:sp>
        <p:nvSpPr>
          <p:cNvPr id="44" name="Text 41"/>
          <p:cNvSpPr/>
          <p:nvPr/>
        </p:nvSpPr>
        <p:spPr>
          <a:xfrm>
            <a:off x="2486025" y="3700853"/>
            <a:ext cx="10001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3-12</a:t>
            </a:r>
            <a:endParaRPr lang="en-US" sz="987" dirty="0"/>
          </a:p>
        </p:txBody>
      </p:sp>
      <p:sp>
        <p:nvSpPr>
          <p:cNvPr id="45" name="Text 42"/>
          <p:cNvSpPr/>
          <p:nvPr/>
        </p:nvSpPr>
        <p:spPr>
          <a:xfrm>
            <a:off x="3629025" y="3607454"/>
            <a:ext cx="2371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research, brand differentiation</a:t>
            </a:r>
            <a:endParaRPr lang="en-US" sz="885" dirty="0"/>
          </a:p>
        </p:txBody>
      </p:sp>
      <p:sp>
        <p:nvSpPr>
          <p:cNvPr id="46" name="Text 43"/>
          <p:cNvSpPr/>
          <p:nvPr/>
        </p:nvSpPr>
        <p:spPr>
          <a:xfrm>
            <a:off x="6143625" y="3607454"/>
            <a:ext cx="2371725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brands dominate AI recommendation lists</a:t>
            </a:r>
            <a:endParaRPr lang="en-US" sz="885" dirty="0"/>
          </a:p>
        </p:txBody>
      </p:sp>
      <p:sp>
        <p:nvSpPr>
          <p:cNvPr id="47" name="Shape 44"/>
          <p:cNvSpPr/>
          <p:nvPr/>
        </p:nvSpPr>
        <p:spPr>
          <a:xfrm>
            <a:off x="571500" y="4364831"/>
            <a:ext cx="8001000" cy="564356"/>
          </a:xfrm>
          <a:prstGeom prst="rect">
            <a:avLst/>
          </a:prstGeom>
          <a:solidFill>
            <a:srgbClr val="38B000">
              <a:alpha val="5000"/>
            </a:srgbClr>
          </a:solidFill>
          <a:ln w="9144">
            <a:solidFill>
              <a:srgbClr val="38B0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0088" y="4567535"/>
            <a:ext cx="1812727" cy="173236"/>
          </a:xfrm>
          <a:prstGeom prst="rect">
            <a:avLst/>
          </a:prstGeom>
          <a:noFill/>
          <a:ln/>
        </p:spPr>
        <p:txBody>
          <a:bodyPr wrap="none" lIns="0" tIns="0" rIns="153035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 TO TRACK</a:t>
            </a:r>
            <a:endParaRPr lang="en-US" sz="987" dirty="0"/>
          </a:p>
        </p:txBody>
      </p:sp>
      <p:sp>
        <p:nvSpPr>
          <p:cNvPr id="49" name="Text 46"/>
          <p:cNvSpPr/>
          <p:nvPr/>
        </p:nvSpPr>
        <p:spPr>
          <a:xfrm>
            <a:off x="2641402" y="4464844"/>
            <a:ext cx="5802511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Citation Frequency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how often our brands appear in AI-generated </a:t>
            </a: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vs. competitors.</a:t>
            </a:r>
            <a:endParaRPr lang="en-US" sz="10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13354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685534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BOTTOM LINE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776883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Vision + The Right Execution = Market Dominance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71500" y="1828409"/>
            <a:ext cx="36004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Alex, pursuing AI search optimization is the right move — our 14 keyword-rich domains give us an unmatched lead-generation edge.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3011370"/>
            <a:ext cx="3600450" cy="1181509"/>
          </a:xfrm>
          <a:prstGeom prst="rect">
            <a:avLst/>
          </a:prstGeom>
          <a:solidFill>
            <a:srgbClr val="38B000">
              <a:alpha val="10000"/>
            </a:srgbClr>
          </a:solidFill>
          <a:ln w="18288">
            <a:solidFill>
              <a:srgbClr val="38B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125670"/>
            <a:ext cx="33718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685800" y="3389988"/>
            <a:ext cx="337185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Phase 1 this week; Justin's team will begin the technical foundation across all domains.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572000" y="1828409"/>
            <a:ext cx="1453725" cy="1328738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9150" y="18998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804144" y="1885559"/>
            <a:ext cx="1164431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search is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be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go.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6111450" y="1828409"/>
            <a:ext cx="1235841" cy="112871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68600" y="18998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6343594" y="1885559"/>
            <a:ext cx="94654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influences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validated.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7433016" y="1828409"/>
            <a:ext cx="1217981" cy="1328738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0166" y="18998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7665160" y="1885559"/>
            <a:ext cx="9144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outperforms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astroturfing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more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durable.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572000" y="3550248"/>
            <a:ext cx="1453725" cy="928688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9150" y="3621686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4804144" y="3607398"/>
            <a:ext cx="11501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14 brands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dominate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slots.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6097163" y="3550248"/>
            <a:ext cx="1235841" cy="112871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54313" y="3628830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6329307" y="3614542"/>
            <a:ext cx="932259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 </a:t>
            </a: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active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protect </a:t>
            </a:r>
            <a:r>
              <a:rPr lang="en-US" sz="987" b="1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portfolio.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2026-03-27T21:24:26Z</dcterms:created>
  <dcterms:modified xsi:type="dcterms:W3CDTF">2026-03-27T21:24:26Z</dcterms:modified>
</cp:coreProperties>
</file>