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1024430"/>
            <a:ext cx="6429375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 Readiness Audit:</a:t>
            </a:r>
            <a:r>
              <a:rPr lang="en-US" sz="329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329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Complete 19-Brand </a:t>
            </a:r>
            <a:r>
              <a:rPr lang="en-US" sz="329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857250" y="2704607"/>
            <a:ext cx="571500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Engine Optimization Scorecard — Domestic &amp; International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857250" y="3686873"/>
            <a:ext cx="82867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Date: </a:t>
            </a:r>
            <a:r>
              <a:rPr lang="en-US" sz="987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 2026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57250" y="3945834"/>
            <a:ext cx="82867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for: </a:t>
            </a:r>
            <a:r>
              <a:rPr lang="en-US" sz="987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 &amp; Global Sales Force Leadership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229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 — AI Search Is Replacing Google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2336006"/>
            <a:ext cx="3300413" cy="2008789"/>
          </a:xfrm>
          <a:prstGeom prst="rect">
            <a:avLst/>
          </a:prstGeom>
          <a:solidFill>
            <a:srgbClr val="3B82F6">
              <a:alpha val="10000"/>
            </a:srgbClr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7250" y="2636044"/>
            <a:ext cx="2700338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6218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40%+</a:t>
            </a:r>
            <a:endParaRPr lang="en-US" sz="6218" dirty="0"/>
          </a:p>
        </p:txBody>
      </p:sp>
      <p:sp>
        <p:nvSpPr>
          <p:cNvPr id="6" name="Text 3"/>
          <p:cNvSpPr/>
          <p:nvPr/>
        </p:nvSpPr>
        <p:spPr>
          <a:xfrm>
            <a:off x="857250" y="3564731"/>
            <a:ext cx="270033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all searches globally now go through AI-powered engines.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4271963" y="1625957"/>
            <a:ext cx="4300538" cy="1097235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someone asks "best movers" or "best international movers," AI pulls answers from </a:t>
            </a:r>
            <a:r>
              <a:rPr lang="en-US" sz="119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data, Reddit, and authoritative websites</a:t>
            </a: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4271963" y="2951792"/>
            <a:ext cx="4300538" cy="822927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Engine Optimization (GEO) case studies show AI referrals convert at </a:t>
            </a:r>
            <a:r>
              <a:rPr lang="en-US" sz="119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 the rate</a:t>
            </a: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traditional search traffic.</a:t>
            </a:r>
            <a:endParaRPr lang="en-US" sz="1269" dirty="0"/>
          </a:p>
        </p:txBody>
      </p:sp>
      <p:sp>
        <p:nvSpPr>
          <p:cNvPr id="9" name="Text 6"/>
          <p:cNvSpPr/>
          <p:nvPr/>
        </p:nvSpPr>
        <p:spPr>
          <a:xfrm>
            <a:off x="4271963" y="4003318"/>
            <a:ext cx="4300538" cy="822927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19-brand conglomerate is a </a:t>
            </a:r>
            <a:r>
              <a:rPr lang="en-US" sz="1193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 competitive advantage</a:t>
            </a: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but only if the sites are technically ready for AI to read them.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4271963" y="1640244"/>
            <a:ext cx="862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271963" y="2966079"/>
            <a:ext cx="862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71963" y="4017606"/>
            <a:ext cx="862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229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Overview — 19 Brands Across Two Divisions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394427"/>
            <a:ext cx="5081578" cy="374907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7225" y="1480152"/>
            <a:ext cx="166628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Domestic Brands</a:t>
            </a:r>
            <a:endParaRPr lang="en-US" sz="1397" dirty="0"/>
          </a:p>
        </p:txBody>
      </p:sp>
      <p:sp>
        <p:nvSpPr>
          <p:cNvPr id="6" name="Shape 3"/>
          <p:cNvSpPr/>
          <p:nvPr/>
        </p:nvSpPr>
        <p:spPr>
          <a:xfrm>
            <a:off x="4960748" y="1504262"/>
            <a:ext cx="601861" cy="194667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4960748" y="1504262"/>
            <a:ext cx="601861" cy="194667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Sites</a:t>
            </a:r>
            <a:endParaRPr lang="en-US" sz="784" dirty="0"/>
          </a:p>
        </p:txBody>
      </p:sp>
      <p:sp>
        <p:nvSpPr>
          <p:cNvPr id="8" name="Shape 5"/>
          <p:cNvSpPr/>
          <p:nvPr/>
        </p:nvSpPr>
        <p:spPr>
          <a:xfrm>
            <a:off x="657225" y="1908777"/>
            <a:ext cx="2409816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57225" y="1908777"/>
            <a:ext cx="28575" cy="2696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657225" y="1908777"/>
            <a:ext cx="2409816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ultimatemovers.net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3152766" y="1908777"/>
            <a:ext cx="2409844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152766" y="1908777"/>
            <a:ext cx="28575" cy="2696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3152766" y="1908777"/>
            <a:ext cx="2409844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california-seattleexpress.com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657225" y="2264178"/>
            <a:ext cx="2409816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57225" y="2264178"/>
            <a:ext cx="28575" cy="2696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657225" y="2264178"/>
            <a:ext cx="2409816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crosscountrymovers.com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3152766" y="2264178"/>
            <a:ext cx="2409844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3152766" y="2264178"/>
            <a:ext cx="28575" cy="2696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3152766" y="2264178"/>
            <a:ext cx="2409844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crosscountrymovingcompany.net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657225" y="2619580"/>
            <a:ext cx="2409816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57225" y="2619580"/>
            <a:ext cx="28575" cy="2696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657225" y="2619580"/>
            <a:ext cx="2409816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eastcoastwestcoastmovers.com</a:t>
            </a:r>
            <a:endParaRPr lang="en-US" sz="942" dirty="0"/>
          </a:p>
        </p:txBody>
      </p:sp>
      <p:sp>
        <p:nvSpPr>
          <p:cNvPr id="23" name="Shape 20"/>
          <p:cNvSpPr/>
          <p:nvPr/>
        </p:nvSpPr>
        <p:spPr>
          <a:xfrm>
            <a:off x="3152766" y="2619580"/>
            <a:ext cx="2409844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3152766" y="2619580"/>
            <a:ext cx="28575" cy="2696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3152766" y="2619580"/>
            <a:ext cx="2409844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flatpriceautotransport.com</a:t>
            </a:r>
            <a:endParaRPr lang="en-US" sz="942" dirty="0"/>
          </a:p>
        </p:txBody>
      </p:sp>
      <p:sp>
        <p:nvSpPr>
          <p:cNvPr id="26" name="Shape 23"/>
          <p:cNvSpPr/>
          <p:nvPr/>
        </p:nvSpPr>
        <p:spPr>
          <a:xfrm>
            <a:off x="657225" y="2974981"/>
            <a:ext cx="2409816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57225" y="2974981"/>
            <a:ext cx="28575" cy="2696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657225" y="2974981"/>
            <a:ext cx="2409816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kerbmoving.com</a:t>
            </a:r>
            <a:endParaRPr lang="en-US" sz="942" dirty="0"/>
          </a:p>
        </p:txBody>
      </p:sp>
      <p:sp>
        <p:nvSpPr>
          <p:cNvPr id="29" name="Shape 26"/>
          <p:cNvSpPr/>
          <p:nvPr/>
        </p:nvSpPr>
        <p:spPr>
          <a:xfrm>
            <a:off x="3152766" y="2974981"/>
            <a:ext cx="2409844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152766" y="2974981"/>
            <a:ext cx="28575" cy="2696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8"/>
          <p:cNvSpPr/>
          <p:nvPr/>
        </p:nvSpPr>
        <p:spPr>
          <a:xfrm>
            <a:off x="3152766" y="2974981"/>
            <a:ext cx="2409844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ldmovers.com</a:t>
            </a:r>
            <a:endParaRPr lang="en-US" sz="942" dirty="0"/>
          </a:p>
        </p:txBody>
      </p:sp>
      <p:sp>
        <p:nvSpPr>
          <p:cNvPr id="32" name="Shape 29"/>
          <p:cNvSpPr/>
          <p:nvPr/>
        </p:nvSpPr>
        <p:spPr>
          <a:xfrm>
            <a:off x="657225" y="3330383"/>
            <a:ext cx="2409816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657225" y="3330383"/>
            <a:ext cx="28575" cy="2696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657225" y="3330383"/>
            <a:ext cx="2409816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longdistancemovers.com</a:t>
            </a:r>
            <a:endParaRPr lang="en-US" sz="942" dirty="0"/>
          </a:p>
        </p:txBody>
      </p:sp>
      <p:sp>
        <p:nvSpPr>
          <p:cNvPr id="35" name="Shape 32"/>
          <p:cNvSpPr/>
          <p:nvPr/>
        </p:nvSpPr>
        <p:spPr>
          <a:xfrm>
            <a:off x="3152766" y="3330383"/>
            <a:ext cx="2409844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152766" y="3330383"/>
            <a:ext cx="28575" cy="2696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3152766" y="3330383"/>
            <a:ext cx="2409844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longdistancemovingexperts.com</a:t>
            </a:r>
            <a:endParaRPr lang="en-US" sz="942" dirty="0"/>
          </a:p>
        </p:txBody>
      </p:sp>
      <p:sp>
        <p:nvSpPr>
          <p:cNvPr id="38" name="Shape 35"/>
          <p:cNvSpPr/>
          <p:nvPr/>
        </p:nvSpPr>
        <p:spPr>
          <a:xfrm>
            <a:off x="657225" y="3685784"/>
            <a:ext cx="2409816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657225" y="3685784"/>
            <a:ext cx="28575" cy="2696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0" name="Text 37"/>
          <p:cNvSpPr/>
          <p:nvPr/>
        </p:nvSpPr>
        <p:spPr>
          <a:xfrm>
            <a:off x="657225" y="3685784"/>
            <a:ext cx="2409816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longdistanceusamovers.com</a:t>
            </a:r>
            <a:endParaRPr lang="en-US" sz="942" dirty="0"/>
          </a:p>
        </p:txBody>
      </p:sp>
      <p:sp>
        <p:nvSpPr>
          <p:cNvPr id="41" name="Shape 38"/>
          <p:cNvSpPr/>
          <p:nvPr/>
        </p:nvSpPr>
        <p:spPr>
          <a:xfrm>
            <a:off x="3152766" y="3685784"/>
            <a:ext cx="2409844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3152766" y="3685784"/>
            <a:ext cx="28575" cy="2696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3" name="Text 40"/>
          <p:cNvSpPr/>
          <p:nvPr/>
        </p:nvSpPr>
        <p:spPr>
          <a:xfrm>
            <a:off x="3152766" y="3685784"/>
            <a:ext cx="2409844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state2statemovers.com</a:t>
            </a:r>
            <a:endParaRPr lang="en-US" sz="942" dirty="0"/>
          </a:p>
        </p:txBody>
      </p:sp>
      <p:sp>
        <p:nvSpPr>
          <p:cNvPr id="44" name="Shape 41"/>
          <p:cNvSpPr/>
          <p:nvPr/>
        </p:nvSpPr>
        <p:spPr>
          <a:xfrm>
            <a:off x="657225" y="4041186"/>
            <a:ext cx="2409816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57225" y="4041186"/>
            <a:ext cx="28575" cy="2696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657225" y="4041186"/>
            <a:ext cx="2409816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tricolongdistancemovers.com</a:t>
            </a:r>
            <a:endParaRPr lang="en-US" sz="942" dirty="0"/>
          </a:p>
        </p:txBody>
      </p:sp>
      <p:sp>
        <p:nvSpPr>
          <p:cNvPr id="47" name="Shape 44"/>
          <p:cNvSpPr/>
          <p:nvPr/>
        </p:nvSpPr>
        <p:spPr>
          <a:xfrm>
            <a:off x="3152766" y="4041186"/>
            <a:ext cx="2409844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3152766" y="4041186"/>
            <a:ext cx="28575" cy="2696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Text 46"/>
          <p:cNvSpPr/>
          <p:nvPr/>
        </p:nvSpPr>
        <p:spPr>
          <a:xfrm>
            <a:off x="3152766" y="4041186"/>
            <a:ext cx="2409844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usa-autotransport.com</a:t>
            </a:r>
            <a:endParaRPr lang="en-US" sz="942" dirty="0"/>
          </a:p>
        </p:txBody>
      </p:sp>
      <p:sp>
        <p:nvSpPr>
          <p:cNvPr id="50" name="Shape 47"/>
          <p:cNvSpPr/>
          <p:nvPr/>
        </p:nvSpPr>
        <p:spPr>
          <a:xfrm>
            <a:off x="5934084" y="1394427"/>
            <a:ext cx="2638416" cy="374907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029325" y="1480152"/>
            <a:ext cx="19220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International Brands</a:t>
            </a:r>
            <a:endParaRPr lang="en-US" sz="1397" dirty="0"/>
          </a:p>
        </p:txBody>
      </p:sp>
      <p:sp>
        <p:nvSpPr>
          <p:cNvPr id="52" name="Shape 49"/>
          <p:cNvSpPr/>
          <p:nvPr/>
        </p:nvSpPr>
        <p:spPr>
          <a:xfrm>
            <a:off x="7951357" y="1556947"/>
            <a:ext cx="535418" cy="3321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0"/>
          <p:cNvSpPr/>
          <p:nvPr/>
        </p:nvSpPr>
        <p:spPr>
          <a:xfrm>
            <a:off x="7951357" y="1556947"/>
            <a:ext cx="535418" cy="332184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Sites</a:t>
            </a:r>
            <a:endParaRPr lang="en-US" sz="784" dirty="0"/>
          </a:p>
        </p:txBody>
      </p:sp>
      <p:sp>
        <p:nvSpPr>
          <p:cNvPr id="54" name="Shape 51"/>
          <p:cNvSpPr/>
          <p:nvPr/>
        </p:nvSpPr>
        <p:spPr>
          <a:xfrm>
            <a:off x="6029325" y="2151664"/>
            <a:ext cx="2457450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029325" y="2151664"/>
            <a:ext cx="28575" cy="26967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6" name="Text 53"/>
          <p:cNvSpPr/>
          <p:nvPr/>
        </p:nvSpPr>
        <p:spPr>
          <a:xfrm>
            <a:off x="6029325" y="2151664"/>
            <a:ext cx="2457450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myinternationalmovers.com</a:t>
            </a:r>
            <a:endParaRPr lang="en-US" sz="942" dirty="0"/>
          </a:p>
        </p:txBody>
      </p:sp>
      <p:sp>
        <p:nvSpPr>
          <p:cNvPr id="57" name="Shape 54"/>
          <p:cNvSpPr/>
          <p:nvPr/>
        </p:nvSpPr>
        <p:spPr>
          <a:xfrm>
            <a:off x="6029325" y="2507066"/>
            <a:ext cx="2457450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6029325" y="2507066"/>
            <a:ext cx="28575" cy="26967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9" name="Text 56"/>
          <p:cNvSpPr/>
          <p:nvPr/>
        </p:nvSpPr>
        <p:spPr>
          <a:xfrm>
            <a:off x="6029325" y="2507066"/>
            <a:ext cx="2457450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ilovemoving.com</a:t>
            </a:r>
            <a:endParaRPr lang="en-US" sz="942" dirty="0"/>
          </a:p>
        </p:txBody>
      </p:sp>
      <p:sp>
        <p:nvSpPr>
          <p:cNvPr id="60" name="Shape 57"/>
          <p:cNvSpPr/>
          <p:nvPr/>
        </p:nvSpPr>
        <p:spPr>
          <a:xfrm>
            <a:off x="6029325" y="2862467"/>
            <a:ext cx="2457450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6029325" y="2862467"/>
            <a:ext cx="28575" cy="26967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2" name="Text 59"/>
          <p:cNvSpPr/>
          <p:nvPr/>
        </p:nvSpPr>
        <p:spPr>
          <a:xfrm>
            <a:off x="6029325" y="2862467"/>
            <a:ext cx="2457450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schmidtmovers.com</a:t>
            </a:r>
            <a:endParaRPr lang="en-US" sz="942" dirty="0"/>
          </a:p>
        </p:txBody>
      </p:sp>
      <p:sp>
        <p:nvSpPr>
          <p:cNvPr id="63" name="Shape 60"/>
          <p:cNvSpPr/>
          <p:nvPr/>
        </p:nvSpPr>
        <p:spPr>
          <a:xfrm>
            <a:off x="6029325" y="3217869"/>
            <a:ext cx="2457450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6029325" y="3217869"/>
            <a:ext cx="28575" cy="26967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5" name="Text 62"/>
          <p:cNvSpPr/>
          <p:nvPr/>
        </p:nvSpPr>
        <p:spPr>
          <a:xfrm>
            <a:off x="6029325" y="3217869"/>
            <a:ext cx="2457450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sunsetmoving.com</a:t>
            </a:r>
            <a:endParaRPr lang="en-US" sz="942" dirty="0"/>
          </a:p>
        </p:txBody>
      </p:sp>
      <p:sp>
        <p:nvSpPr>
          <p:cNvPr id="66" name="Shape 63"/>
          <p:cNvSpPr/>
          <p:nvPr/>
        </p:nvSpPr>
        <p:spPr>
          <a:xfrm>
            <a:off x="6029325" y="3573270"/>
            <a:ext cx="2457450" cy="2696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6029325" y="3573270"/>
            <a:ext cx="28575" cy="269677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8" name="Text 65"/>
          <p:cNvSpPr/>
          <p:nvPr/>
        </p:nvSpPr>
        <p:spPr>
          <a:xfrm>
            <a:off x="6029325" y="3573270"/>
            <a:ext cx="2457450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shepherdmovers.com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Portfolio-Wide GEO Scores Range from 90 (A) to 15 (F)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291568"/>
            <a:ext cx="5243513" cy="37147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434443"/>
            <a:ext cx="4943475" cy="341471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5991" y="1291568"/>
            <a:ext cx="2476509" cy="769739"/>
          </a:xfrm>
          <a:prstGeom prst="rect">
            <a:avLst/>
          </a:prstGeom>
          <a:solidFill>
            <a:srgbClr val="10B981">
              <a:alpha val="10000"/>
            </a:srgbClr>
          </a:solidFill>
          <a:ln w="18288">
            <a:solidFill>
              <a:srgbClr val="10B98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153141" y="1348718"/>
            <a:ext cx="23622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 PORTFOLIO AVERAGE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6153141" y="1561244"/>
            <a:ext cx="2362209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r>
              <a:rPr lang="en-US" sz="119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/100</a:t>
            </a:r>
            <a:endParaRPr lang="en-US" sz="2436" dirty="0"/>
          </a:p>
        </p:txBody>
      </p:sp>
      <p:sp>
        <p:nvSpPr>
          <p:cNvPr id="9" name="Shape 5"/>
          <p:cNvSpPr/>
          <p:nvPr/>
        </p:nvSpPr>
        <p:spPr>
          <a:xfrm>
            <a:off x="6095991" y="2089882"/>
            <a:ext cx="2476509" cy="1252612"/>
          </a:xfrm>
          <a:prstGeom prst="rect">
            <a:avLst/>
          </a:prstGeom>
          <a:solidFill>
            <a:srgbClr val="3B82F6">
              <a:alpha val="10000"/>
            </a:srgbClr>
          </a:solidFill>
          <a:ln w="18288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53141" y="2147032"/>
            <a:ext cx="23622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PERFORMERS (READY)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6153141" y="2359558"/>
            <a:ext cx="2362209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crosscountrymovers.com (90, A)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6153141" y="2605292"/>
            <a:ext cx="2362209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state2statemovers.com (87, A)</a:t>
            </a:r>
            <a:endParaRPr lang="en-US" sz="834" dirty="0"/>
          </a:p>
        </p:txBody>
      </p:sp>
      <p:sp>
        <p:nvSpPr>
          <p:cNvPr id="13" name="Text 9"/>
          <p:cNvSpPr/>
          <p:nvPr/>
        </p:nvSpPr>
        <p:spPr>
          <a:xfrm>
            <a:off x="6153141" y="2851026"/>
            <a:ext cx="2362209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crosscountrymovingcompany.net (82, B)</a:t>
            </a:r>
            <a:endParaRPr lang="en-US" sz="834" dirty="0"/>
          </a:p>
        </p:txBody>
      </p:sp>
      <p:sp>
        <p:nvSpPr>
          <p:cNvPr id="14" name="Shape 10"/>
          <p:cNvSpPr/>
          <p:nvPr/>
        </p:nvSpPr>
        <p:spPr>
          <a:xfrm>
            <a:off x="6095991" y="3211060"/>
            <a:ext cx="2476509" cy="1338337"/>
          </a:xfrm>
          <a:prstGeom prst="rect">
            <a:avLst/>
          </a:prstGeom>
          <a:solidFill>
            <a:srgbClr val="EF4444">
              <a:alpha val="10000"/>
            </a:srgbClr>
          </a:solidFill>
          <a:ln w="18288">
            <a:solidFill>
              <a:srgbClr val="EF444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53141" y="2359558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84" dirty="0"/>
          </a:p>
        </p:txBody>
      </p:sp>
      <p:sp>
        <p:nvSpPr>
          <p:cNvPr id="16" name="Text 12"/>
          <p:cNvSpPr/>
          <p:nvPr/>
        </p:nvSpPr>
        <p:spPr>
          <a:xfrm>
            <a:off x="6153141" y="2605292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84" dirty="0"/>
          </a:p>
        </p:txBody>
      </p:sp>
      <p:sp>
        <p:nvSpPr>
          <p:cNvPr id="17" name="Text 13"/>
          <p:cNvSpPr/>
          <p:nvPr/>
        </p:nvSpPr>
        <p:spPr>
          <a:xfrm>
            <a:off x="6153141" y="2851026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84" dirty="0"/>
          </a:p>
        </p:txBody>
      </p:sp>
      <p:sp>
        <p:nvSpPr>
          <p:cNvPr id="18" name="Text 14"/>
          <p:cNvSpPr/>
          <p:nvPr/>
        </p:nvSpPr>
        <p:spPr>
          <a:xfrm>
            <a:off x="6153141" y="3268210"/>
            <a:ext cx="23622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RISK (FAILING)</a:t>
            </a:r>
            <a:endParaRPr lang="en-US" sz="885" dirty="0"/>
          </a:p>
        </p:txBody>
      </p:sp>
      <p:sp>
        <p:nvSpPr>
          <p:cNvPr id="19" name="Text 15"/>
          <p:cNvSpPr/>
          <p:nvPr/>
        </p:nvSpPr>
        <p:spPr>
          <a:xfrm>
            <a:off x="6153141" y="3480736"/>
            <a:ext cx="2362209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longdistanceusamovers.com (47, D)</a:t>
            </a:r>
            <a:endParaRPr lang="en-US" sz="834" dirty="0"/>
          </a:p>
        </p:txBody>
      </p:sp>
      <p:sp>
        <p:nvSpPr>
          <p:cNvPr id="20" name="Text 16"/>
          <p:cNvSpPr/>
          <p:nvPr/>
        </p:nvSpPr>
        <p:spPr>
          <a:xfrm>
            <a:off x="6153141" y="3726470"/>
            <a:ext cx="2362209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sunsetmoving.com (43, D)</a:t>
            </a:r>
            <a:endParaRPr lang="en-US" sz="834" dirty="0"/>
          </a:p>
        </p:txBody>
      </p:sp>
      <p:sp>
        <p:nvSpPr>
          <p:cNvPr id="21" name="Text 17"/>
          <p:cNvSpPr/>
          <p:nvPr/>
        </p:nvSpPr>
        <p:spPr>
          <a:xfrm>
            <a:off x="6153141" y="3972204"/>
            <a:ext cx="2362209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kerbmoving.com (25, F)</a:t>
            </a:r>
            <a:endParaRPr lang="en-US" sz="834" dirty="0"/>
          </a:p>
        </p:txBody>
      </p:sp>
      <p:sp>
        <p:nvSpPr>
          <p:cNvPr id="22" name="Text 18"/>
          <p:cNvSpPr/>
          <p:nvPr/>
        </p:nvSpPr>
        <p:spPr>
          <a:xfrm>
            <a:off x="6153141" y="4217938"/>
            <a:ext cx="2362209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shepherdmovers.com (15, F)</a:t>
            </a:r>
            <a:endParaRPr lang="en-US" sz="834" dirty="0"/>
          </a:p>
        </p:txBody>
      </p:sp>
      <p:sp>
        <p:nvSpPr>
          <p:cNvPr id="23" name="Text 19"/>
          <p:cNvSpPr/>
          <p:nvPr/>
        </p:nvSpPr>
        <p:spPr>
          <a:xfrm>
            <a:off x="6153141" y="3480736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84" dirty="0"/>
          </a:p>
        </p:txBody>
      </p:sp>
      <p:sp>
        <p:nvSpPr>
          <p:cNvPr id="24" name="Text 20"/>
          <p:cNvSpPr/>
          <p:nvPr/>
        </p:nvSpPr>
        <p:spPr>
          <a:xfrm>
            <a:off x="6153141" y="3726470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84" dirty="0"/>
          </a:p>
        </p:txBody>
      </p:sp>
      <p:sp>
        <p:nvSpPr>
          <p:cNvPr id="25" name="Text 21"/>
          <p:cNvSpPr/>
          <p:nvPr/>
        </p:nvSpPr>
        <p:spPr>
          <a:xfrm>
            <a:off x="6153141" y="3972204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84" dirty="0"/>
          </a:p>
        </p:txBody>
      </p:sp>
      <p:sp>
        <p:nvSpPr>
          <p:cNvPr id="26" name="Text 22"/>
          <p:cNvSpPr/>
          <p:nvPr/>
        </p:nvSpPr>
        <p:spPr>
          <a:xfrm>
            <a:off x="6153141" y="4217938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48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229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Domestic vs. International — The Gap Is Clear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394427"/>
            <a:ext cx="3086100" cy="135731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94427"/>
            <a:ext cx="30861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3650456" y="1394427"/>
            <a:ext cx="7144" cy="13573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2744595"/>
            <a:ext cx="30861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394427"/>
            <a:ext cx="42863" cy="135731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742950" y="1565877"/>
            <a:ext cx="27432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Domestic Portfolio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742950" y="1830195"/>
            <a:ext cx="2743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</a:t>
            </a:r>
            <a:r>
              <a:rPr lang="en-US" sz="126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/100</a:t>
            </a:r>
            <a:endParaRPr lang="en-US" sz="3294" dirty="0"/>
          </a:p>
        </p:txBody>
      </p:sp>
      <p:sp>
        <p:nvSpPr>
          <p:cNvPr id="11" name="Text 8"/>
          <p:cNvSpPr/>
          <p:nvPr/>
        </p:nvSpPr>
        <p:spPr>
          <a:xfrm>
            <a:off x="742950" y="2373120"/>
            <a:ext cx="27432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 foundation, needs AI-specific signals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571500" y="2880327"/>
            <a:ext cx="3086100" cy="135731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2880327"/>
            <a:ext cx="30861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3650456" y="2880327"/>
            <a:ext cx="7144" cy="13573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4230495"/>
            <a:ext cx="30861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571500" y="2880327"/>
            <a:ext cx="42863" cy="1357313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742950" y="3051777"/>
            <a:ext cx="27432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International Portfolio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742950" y="3316095"/>
            <a:ext cx="2743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r>
              <a:rPr lang="en-US" sz="126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/100</a:t>
            </a:r>
            <a:endParaRPr lang="en-US" sz="3294" dirty="0"/>
          </a:p>
        </p:txBody>
      </p:sp>
      <p:sp>
        <p:nvSpPr>
          <p:cNvPr id="19" name="Text 16"/>
          <p:cNvSpPr/>
          <p:nvPr/>
        </p:nvSpPr>
        <p:spPr>
          <a:xfrm>
            <a:off x="742950" y="3859020"/>
            <a:ext cx="27432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gaps in every category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571500" y="4366227"/>
            <a:ext cx="3086100" cy="75009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902" y="4437664"/>
            <a:ext cx="697269" cy="607191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3943350" y="1394427"/>
            <a:ext cx="4629150" cy="342900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114800" y="1565877"/>
            <a:ext cx="42862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Comparison: Domestic vs. International</a:t>
            </a:r>
            <a:endParaRPr lang="en-US" sz="987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881987"/>
            <a:ext cx="4271963" cy="27860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834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International Sites Have llms.txt — AI Engines Can't Read Them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505880"/>
            <a:ext cx="2476509" cy="334896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505880"/>
            <a:ext cx="2476509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1791630"/>
            <a:ext cx="20478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74%</a:t>
            </a:r>
            <a:endParaRPr lang="en-US" sz="4145" dirty="0"/>
          </a:p>
        </p:txBody>
      </p:sp>
      <p:sp>
        <p:nvSpPr>
          <p:cNvPr id="7" name="Text 4"/>
          <p:cNvSpPr/>
          <p:nvPr/>
        </p:nvSpPr>
        <p:spPr>
          <a:xfrm>
            <a:off x="785813" y="2506005"/>
            <a:ext cx="2047884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llms.txt Files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785813" y="3168923"/>
            <a:ext cx="20478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on </a:t>
            </a: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of 19 sites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This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explicitly tells AI engines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site is about and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to find key information. </a:t>
            </a: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international sites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have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3759" y="1505880"/>
            <a:ext cx="2476509" cy="3348968"/>
          </a:xfrm>
          <a:prstGeom prst="rect">
            <a:avLst/>
          </a:prstGeom>
          <a:solidFill>
            <a:srgbClr val="EF4444">
              <a:alpha val="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333759" y="1505880"/>
            <a:ext cx="2476509" cy="285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3548072" y="1791630"/>
            <a:ext cx="20478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4145" dirty="0"/>
          </a:p>
        </p:txBody>
      </p:sp>
      <p:sp>
        <p:nvSpPr>
          <p:cNvPr id="12" name="Text 9"/>
          <p:cNvSpPr/>
          <p:nvPr/>
        </p:nvSpPr>
        <p:spPr>
          <a:xfrm>
            <a:off x="3548072" y="2506005"/>
            <a:ext cx="2047884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AI Crawler Directives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3548072" y="3168923"/>
            <a:ext cx="20478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on </a:t>
            </a: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of 19 sites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Not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site in the portfolio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explicitly allows GPTBot,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ClaudeBot, or PerplexityBot in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their robots.txt file.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96019" y="1505880"/>
            <a:ext cx="2476509" cy="334896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096019" y="1505880"/>
            <a:ext cx="2476509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6310331" y="1791630"/>
            <a:ext cx="2047884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84%</a:t>
            </a:r>
            <a:endParaRPr lang="en-US" sz="4145" dirty="0"/>
          </a:p>
        </p:txBody>
      </p:sp>
      <p:sp>
        <p:nvSpPr>
          <p:cNvPr id="17" name="Text 14"/>
          <p:cNvSpPr/>
          <p:nvPr/>
        </p:nvSpPr>
        <p:spPr>
          <a:xfrm>
            <a:off x="6310331" y="2506005"/>
            <a:ext cx="2047884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Google Business Profile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6310331" y="3168923"/>
            <a:ext cx="20478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on </a:t>
            </a: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of 19 sites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AI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prioritize entities with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verifiable real-world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footprints. This is a critical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signal and a 5-minute fix </a:t>
            </a:r>
            <a:r>
              <a:rPr lang="en-US" sz="10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site.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685800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Foundation Is Strong; AI Discoverability Is the Critical Failure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571500" y="1257300"/>
            <a:ext cx="8001000" cy="57150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1439466"/>
            <a:ext cx="2143125" cy="20716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Foundation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2714625" y="1400175"/>
            <a:ext cx="5314950" cy="2857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2714625" y="1400175"/>
            <a:ext cx="5314950" cy="2857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93% Average (Strong)</a:t>
            </a:r>
            <a:endParaRPr lang="en-US" sz="987" dirty="0"/>
          </a:p>
        </p:txBody>
      </p:sp>
      <p:sp>
        <p:nvSpPr>
          <p:cNvPr id="8" name="Shape 5"/>
          <p:cNvSpPr/>
          <p:nvPr/>
        </p:nvSpPr>
        <p:spPr>
          <a:xfrm>
            <a:off x="571500" y="1914525"/>
            <a:ext cx="8001000" cy="57150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2096691"/>
            <a:ext cx="2143125" cy="20716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Quality</a:t>
            </a:r>
            <a:endParaRPr lang="en-US" sz="1193" dirty="0"/>
          </a:p>
        </p:txBody>
      </p:sp>
      <p:sp>
        <p:nvSpPr>
          <p:cNvPr id="10" name="Shape 7"/>
          <p:cNvSpPr/>
          <p:nvPr/>
        </p:nvSpPr>
        <p:spPr>
          <a:xfrm>
            <a:off x="2714625" y="2057400"/>
            <a:ext cx="3543300" cy="28575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2714625" y="2057400"/>
            <a:ext cx="3543300" cy="2857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62% Average (Moderate)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571500" y="2571750"/>
            <a:ext cx="8001000" cy="57150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" y="2753916"/>
            <a:ext cx="2143125" cy="20716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&amp; Authority</a:t>
            </a:r>
            <a:endParaRPr lang="en-US" sz="1193" dirty="0"/>
          </a:p>
        </p:txBody>
      </p:sp>
      <p:sp>
        <p:nvSpPr>
          <p:cNvPr id="14" name="Shape 11"/>
          <p:cNvSpPr/>
          <p:nvPr/>
        </p:nvSpPr>
        <p:spPr>
          <a:xfrm>
            <a:off x="2714625" y="2714625"/>
            <a:ext cx="3086100" cy="28575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2714625" y="2714625"/>
            <a:ext cx="3086100" cy="2857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54% Average (Weak)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571500" y="3228975"/>
            <a:ext cx="8001000" cy="57150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" y="3411141"/>
            <a:ext cx="2143125" cy="20716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Discoverability</a:t>
            </a:r>
            <a:endParaRPr lang="en-US" sz="1193" dirty="0"/>
          </a:p>
        </p:txBody>
      </p:sp>
      <p:sp>
        <p:nvSpPr>
          <p:cNvPr id="18" name="Shape 15"/>
          <p:cNvSpPr/>
          <p:nvPr/>
        </p:nvSpPr>
        <p:spPr>
          <a:xfrm>
            <a:off x="2714625" y="3371850"/>
            <a:ext cx="2686050" cy="28575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6"/>
          <p:cNvSpPr/>
          <p:nvPr/>
        </p:nvSpPr>
        <p:spPr>
          <a:xfrm>
            <a:off x="2714625" y="3371850"/>
            <a:ext cx="2686050" cy="2857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47% Average (Critical Gap)</a:t>
            </a:r>
            <a:endParaRPr lang="en-US" sz="987" dirty="0"/>
          </a:p>
        </p:txBody>
      </p:sp>
      <p:sp>
        <p:nvSpPr>
          <p:cNvPr id="20" name="Shape 17"/>
          <p:cNvSpPr/>
          <p:nvPr/>
        </p:nvSpPr>
        <p:spPr>
          <a:xfrm>
            <a:off x="571500" y="3886200"/>
            <a:ext cx="8001000" cy="57150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1500" y="4068366"/>
            <a:ext cx="2143125" cy="20716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Authority</a:t>
            </a:r>
            <a:endParaRPr lang="en-US" sz="1193" dirty="0"/>
          </a:p>
        </p:txBody>
      </p:sp>
      <p:sp>
        <p:nvSpPr>
          <p:cNvPr id="22" name="Shape 19"/>
          <p:cNvSpPr/>
          <p:nvPr/>
        </p:nvSpPr>
        <p:spPr>
          <a:xfrm>
            <a:off x="2714625" y="4029075"/>
            <a:ext cx="5715000" cy="28575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0"/>
          <p:cNvSpPr/>
          <p:nvPr/>
        </p:nvSpPr>
        <p:spPr>
          <a:xfrm>
            <a:off x="2714625" y="4029075"/>
            <a:ext cx="5715000" cy="2857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Highly Variable Across Portfolio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1817191" y="4686300"/>
            <a:ext cx="10912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(80-100%)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3408462" y="4686300"/>
            <a:ext cx="12055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 (60-79%)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5114032" y="4686300"/>
            <a:ext cx="9679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(50-59%)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6582073" y="4686300"/>
            <a:ext cx="9590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(&lt; 50%)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229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Domains Are Actively Losing Leads Every Day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537302"/>
            <a:ext cx="3929063" cy="164593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0088" y="1673926"/>
            <a:ext cx="165913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kerbmoving.com</a:t>
            </a:r>
            <a:endParaRPr lang="en-US" sz="1397" dirty="0"/>
          </a:p>
        </p:txBody>
      </p:sp>
      <p:sp>
        <p:nvSpPr>
          <p:cNvPr id="6" name="Shape 3"/>
          <p:cNvSpPr/>
          <p:nvPr/>
        </p:nvSpPr>
        <p:spPr>
          <a:xfrm>
            <a:off x="3252192" y="1665889"/>
            <a:ext cx="1119783" cy="25896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252192" y="1665889"/>
            <a:ext cx="1119783" cy="258961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Score: 25 (F)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700088" y="2103444"/>
            <a:ext cx="3671888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Currently a </a:t>
            </a:r>
            <a:r>
              <a:rPr lang="en-US" sz="109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parked domain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redirecting to a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article site. The existing llms.txt file </a:t>
            </a:r>
            <a:r>
              <a:rPr lang="en-US" sz="109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actively blocks AI training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59" dirty="0"/>
          </a:p>
        </p:txBody>
      </p:sp>
      <p:sp>
        <p:nvSpPr>
          <p:cNvPr id="9" name="Shape 6"/>
          <p:cNvSpPr/>
          <p:nvPr/>
        </p:nvSpPr>
        <p:spPr>
          <a:xfrm>
            <a:off x="4643438" y="1537302"/>
            <a:ext cx="3929063" cy="164593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72025" y="1673926"/>
            <a:ext cx="215384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shepherdmovers.com</a:t>
            </a:r>
            <a:endParaRPr lang="en-US" sz="1397" dirty="0"/>
          </a:p>
        </p:txBody>
      </p:sp>
      <p:sp>
        <p:nvSpPr>
          <p:cNvPr id="11" name="Shape 8"/>
          <p:cNvSpPr/>
          <p:nvPr/>
        </p:nvSpPr>
        <p:spPr>
          <a:xfrm>
            <a:off x="7350919" y="1665889"/>
            <a:ext cx="1092994" cy="25896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350919" y="1665889"/>
            <a:ext cx="1092994" cy="258961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Score: 15 (F)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772025" y="2103444"/>
            <a:ext cx="3671888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Causes </a:t>
            </a:r>
            <a:r>
              <a:rPr lang="en-US" sz="109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crashes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due to client-side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errors. Missing nearly all GEO signals, including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schema, meta descriptions, and AI files.</a:t>
            </a:r>
            <a:endParaRPr lang="en-US" sz="1159" dirty="0"/>
          </a:p>
        </p:txBody>
      </p:sp>
      <p:sp>
        <p:nvSpPr>
          <p:cNvPr id="14" name="Shape 11"/>
          <p:cNvSpPr/>
          <p:nvPr/>
        </p:nvSpPr>
        <p:spPr>
          <a:xfrm>
            <a:off x="571500" y="3326113"/>
            <a:ext cx="3929063" cy="164593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0088" y="3462737"/>
            <a:ext cx="140196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ldmovers.com</a:t>
            </a:r>
            <a:endParaRPr lang="en-US" sz="1397" dirty="0"/>
          </a:p>
        </p:txBody>
      </p:sp>
      <p:sp>
        <p:nvSpPr>
          <p:cNvPr id="16" name="Shape 13"/>
          <p:cNvSpPr/>
          <p:nvPr/>
        </p:nvSpPr>
        <p:spPr>
          <a:xfrm>
            <a:off x="3480792" y="3454701"/>
            <a:ext cx="891183" cy="25896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480792" y="3454701"/>
            <a:ext cx="891183" cy="258961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Redirects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700088" y="3892255"/>
            <a:ext cx="3671888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Redirects to longdistanceusamovers.com, but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main Blog link returns a </a:t>
            </a:r>
            <a:r>
              <a:rPr lang="en-US" sz="109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404 error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Missing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crucial MovingCompany schema.</a:t>
            </a:r>
            <a:endParaRPr lang="en-US" sz="1159" dirty="0"/>
          </a:p>
        </p:txBody>
      </p:sp>
      <p:sp>
        <p:nvSpPr>
          <p:cNvPr id="19" name="Shape 16"/>
          <p:cNvSpPr/>
          <p:nvPr/>
        </p:nvSpPr>
        <p:spPr>
          <a:xfrm>
            <a:off x="4643438" y="3326113"/>
            <a:ext cx="3929063" cy="164593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72025" y="3462737"/>
            <a:ext cx="1884164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sunsetmoving.com</a:t>
            </a:r>
            <a:endParaRPr lang="en-US" sz="1397" dirty="0"/>
          </a:p>
        </p:txBody>
      </p:sp>
      <p:sp>
        <p:nvSpPr>
          <p:cNvPr id="21" name="Shape 18"/>
          <p:cNvSpPr/>
          <p:nvPr/>
        </p:nvSpPr>
        <p:spPr>
          <a:xfrm>
            <a:off x="7293769" y="3454701"/>
            <a:ext cx="1150144" cy="25896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7293769" y="3454701"/>
            <a:ext cx="1150144" cy="258961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Score: 43 (D)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4772025" y="3892255"/>
            <a:ext cx="3671888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Contains </a:t>
            </a:r>
            <a:r>
              <a:rPr lang="en-US" sz="109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malformed HTML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AI crawlers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parse programmatically. Missing schema </a:t>
            </a:r>
            <a:r>
              <a:rPr lang="en-US" sz="115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viewport meta tags.</a:t>
            </a:r>
            <a:endParaRPr lang="en-US" sz="115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4-Phase, 12-Week Plan to Dominate AI Search Across All 19 Brands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262993"/>
            <a:ext cx="1914525" cy="375192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62993"/>
            <a:ext cx="1914525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671513" y="1405868"/>
            <a:ext cx="1714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671513" y="1618394"/>
            <a:ext cx="1714500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Foundation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671513" y="2149878"/>
            <a:ext cx="1714500" cy="201811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1-2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671513" y="2437414"/>
            <a:ext cx="1714500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llms.txt files across all 19 domains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671513" y="2866039"/>
            <a:ext cx="1714500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robots.txt to explicitly allow AI crawlers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671513" y="3294664"/>
            <a:ext cx="1714500" cy="6858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critical errors on kerbmoving, shepherdmovers, ldmovers, and sunsetmoving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671513" y="4066189"/>
            <a:ext cx="1714500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Google Business Profiles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2600325" y="1262993"/>
            <a:ext cx="1914525" cy="375192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600325" y="1262993"/>
            <a:ext cx="1914525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671513" y="2437414"/>
            <a:ext cx="64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671513" y="2866039"/>
            <a:ext cx="64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671513" y="3294664"/>
            <a:ext cx="64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671513" y="4066189"/>
            <a:ext cx="64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2700338" y="1405868"/>
            <a:ext cx="1714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2700338" y="1618394"/>
            <a:ext cx="1714500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&amp; Entity Authority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2700338" y="2149878"/>
            <a:ext cx="1714500" cy="201811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3-4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2700338" y="2437414"/>
            <a:ext cx="1714500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structured FAQ pages for all 19 brands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2700338" y="2866039"/>
            <a:ext cx="1714500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FAQPage and MovingCompany schema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2700338" y="3294664"/>
            <a:ext cx="1714500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 "About Us" pages with real team bios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2700338" y="3723289"/>
            <a:ext cx="1714500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NAP consistency across directories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4629150" y="1262993"/>
            <a:ext cx="1914525" cy="375192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4629150" y="1262993"/>
            <a:ext cx="1914525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2700338" y="2437414"/>
            <a:ext cx="64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2700338" y="2866039"/>
            <a:ext cx="64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2700338" y="3294664"/>
            <a:ext cx="64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2700338" y="3723289"/>
            <a:ext cx="64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4729163" y="1405868"/>
            <a:ext cx="1714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4729163" y="1618394"/>
            <a:ext cx="1714500" cy="66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 Community Engagement</a:t>
            </a:r>
            <a:endParaRPr lang="en-US" sz="1193" dirty="0"/>
          </a:p>
        </p:txBody>
      </p:sp>
      <p:sp>
        <p:nvSpPr>
          <p:cNvPr id="34" name="Text 31"/>
          <p:cNvSpPr/>
          <p:nvPr/>
        </p:nvSpPr>
        <p:spPr>
          <a:xfrm>
            <a:off x="4729163" y="2372757"/>
            <a:ext cx="1714500" cy="201811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5-8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4729163" y="2660293"/>
            <a:ext cx="1714500" cy="51435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Reddit strategy across domestic and international subreddits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4729163" y="3260368"/>
            <a:ext cx="1714500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team on FTC disclosure rules</a:t>
            </a:r>
            <a:endParaRPr lang="en-US" sz="834" dirty="0"/>
          </a:p>
        </p:txBody>
      </p:sp>
      <p:sp>
        <p:nvSpPr>
          <p:cNvPr id="37" name="Text 34"/>
          <p:cNvSpPr/>
          <p:nvPr/>
        </p:nvSpPr>
        <p:spPr>
          <a:xfrm>
            <a:off x="4729163" y="3688993"/>
            <a:ext cx="1714500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account karma via 90% helpful participation</a:t>
            </a:r>
            <a:endParaRPr lang="en-US" sz="834" dirty="0"/>
          </a:p>
        </p:txBody>
      </p:sp>
      <p:sp>
        <p:nvSpPr>
          <p:cNvPr id="38" name="Text 35"/>
          <p:cNvSpPr/>
          <p:nvPr/>
        </p:nvSpPr>
        <p:spPr>
          <a:xfrm>
            <a:off x="4729163" y="4117618"/>
            <a:ext cx="1714500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 AMA sessions for subtle brand promotion</a:t>
            </a:r>
            <a:endParaRPr lang="en-US" sz="834" dirty="0"/>
          </a:p>
        </p:txBody>
      </p:sp>
      <p:sp>
        <p:nvSpPr>
          <p:cNvPr id="39" name="Shape 36"/>
          <p:cNvSpPr/>
          <p:nvPr/>
        </p:nvSpPr>
        <p:spPr>
          <a:xfrm>
            <a:off x="6657975" y="1262993"/>
            <a:ext cx="1914525" cy="375192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657975" y="1262993"/>
            <a:ext cx="1914525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8"/>
          <p:cNvSpPr/>
          <p:nvPr/>
        </p:nvSpPr>
        <p:spPr>
          <a:xfrm>
            <a:off x="4729163" y="2660293"/>
            <a:ext cx="64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42" name="Text 39"/>
          <p:cNvSpPr/>
          <p:nvPr/>
        </p:nvSpPr>
        <p:spPr>
          <a:xfrm>
            <a:off x="4729163" y="3260368"/>
            <a:ext cx="64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43" name="Text 40"/>
          <p:cNvSpPr/>
          <p:nvPr/>
        </p:nvSpPr>
        <p:spPr>
          <a:xfrm>
            <a:off x="4729163" y="3688993"/>
            <a:ext cx="64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44" name="Text 41"/>
          <p:cNvSpPr/>
          <p:nvPr/>
        </p:nvSpPr>
        <p:spPr>
          <a:xfrm>
            <a:off x="4729163" y="4117618"/>
            <a:ext cx="64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45" name="Text 42"/>
          <p:cNvSpPr/>
          <p:nvPr/>
        </p:nvSpPr>
        <p:spPr>
          <a:xfrm>
            <a:off x="6757988" y="1405868"/>
            <a:ext cx="1714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</a:t>
            </a:r>
            <a:endParaRPr lang="en-US" sz="885" dirty="0"/>
          </a:p>
        </p:txBody>
      </p:sp>
      <p:sp>
        <p:nvSpPr>
          <p:cNvPr id="46" name="Text 43"/>
          <p:cNvSpPr/>
          <p:nvPr/>
        </p:nvSpPr>
        <p:spPr>
          <a:xfrm>
            <a:off x="6757988" y="1618394"/>
            <a:ext cx="1714500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Measurement &amp; Scaling</a:t>
            </a:r>
            <a:endParaRPr lang="en-US" sz="1193" dirty="0"/>
          </a:p>
        </p:txBody>
      </p:sp>
      <p:sp>
        <p:nvSpPr>
          <p:cNvPr id="47" name="Text 44"/>
          <p:cNvSpPr/>
          <p:nvPr/>
        </p:nvSpPr>
        <p:spPr>
          <a:xfrm>
            <a:off x="6757988" y="2149878"/>
            <a:ext cx="1714500" cy="201811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9-12</a:t>
            </a:r>
            <a:endParaRPr lang="en-US" sz="784" dirty="0"/>
          </a:p>
        </p:txBody>
      </p:sp>
      <p:sp>
        <p:nvSpPr>
          <p:cNvPr id="48" name="Text 45"/>
          <p:cNvSpPr/>
          <p:nvPr/>
        </p:nvSpPr>
        <p:spPr>
          <a:xfrm>
            <a:off x="6757988" y="2437414"/>
            <a:ext cx="1714500" cy="51435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AI Share of Voice across ChatGPT and Perplexity</a:t>
            </a:r>
            <a:endParaRPr lang="en-US" sz="834" dirty="0"/>
          </a:p>
        </p:txBody>
      </p:sp>
      <p:sp>
        <p:nvSpPr>
          <p:cNvPr id="49" name="Text 46"/>
          <p:cNvSpPr/>
          <p:nvPr/>
        </p:nvSpPr>
        <p:spPr>
          <a:xfrm>
            <a:off x="6757988" y="3037489"/>
            <a:ext cx="1714500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5-minute lead response SLA</a:t>
            </a:r>
            <a:endParaRPr lang="en-US" sz="834" dirty="0"/>
          </a:p>
        </p:txBody>
      </p:sp>
      <p:sp>
        <p:nvSpPr>
          <p:cNvPr id="50" name="Text 47"/>
          <p:cNvSpPr/>
          <p:nvPr/>
        </p:nvSpPr>
        <p:spPr>
          <a:xfrm>
            <a:off x="6757988" y="3466114"/>
            <a:ext cx="1714500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original research report on relocation costs</a:t>
            </a:r>
            <a:endParaRPr lang="en-US" sz="834" dirty="0"/>
          </a:p>
        </p:txBody>
      </p:sp>
      <p:sp>
        <p:nvSpPr>
          <p:cNvPr id="51" name="Text 48"/>
          <p:cNvSpPr/>
          <p:nvPr/>
        </p:nvSpPr>
        <p:spPr>
          <a:xfrm>
            <a:off x="6757988" y="3894739"/>
            <a:ext cx="1714500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Conduct 90-day ROI review</a:t>
            </a:r>
            <a:endParaRPr lang="en-US" sz="834" dirty="0"/>
          </a:p>
        </p:txBody>
      </p:sp>
      <p:sp>
        <p:nvSpPr>
          <p:cNvPr id="52" name="Text 49"/>
          <p:cNvSpPr/>
          <p:nvPr/>
        </p:nvSpPr>
        <p:spPr>
          <a:xfrm>
            <a:off x="6757988" y="2437414"/>
            <a:ext cx="64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53" name="Text 50"/>
          <p:cNvSpPr/>
          <p:nvPr/>
        </p:nvSpPr>
        <p:spPr>
          <a:xfrm>
            <a:off x="6757988" y="3037489"/>
            <a:ext cx="64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54" name="Text 51"/>
          <p:cNvSpPr/>
          <p:nvPr/>
        </p:nvSpPr>
        <p:spPr>
          <a:xfrm>
            <a:off x="6757988" y="3466114"/>
            <a:ext cx="64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  <p:sp>
        <p:nvSpPr>
          <p:cNvPr id="55" name="Text 52"/>
          <p:cNvSpPr/>
          <p:nvPr/>
        </p:nvSpPr>
        <p:spPr>
          <a:xfrm>
            <a:off x="6757988" y="3894739"/>
            <a:ext cx="64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720068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$7,650 - $12,300 Total Investment to Cover All 19 Brands</a:t>
            </a:r>
            <a:endParaRPr lang="en-US" sz="2121" dirty="0"/>
          </a:p>
        </p:txBody>
      </p:sp>
      <p:sp>
        <p:nvSpPr>
          <p:cNvPr id="4" name="Shape 1"/>
          <p:cNvSpPr/>
          <p:nvPr/>
        </p:nvSpPr>
        <p:spPr>
          <a:xfrm>
            <a:off x="571500" y="1291568"/>
            <a:ext cx="4270651" cy="2568094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378186"/>
            <a:ext cx="1635249" cy="301823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665722"/>
            <a:ext cx="1635249" cy="14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378186"/>
            <a:ext cx="1635249" cy="30182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/ Phase</a:t>
            </a:r>
            <a:endParaRPr lang="en-US" sz="987" dirty="0"/>
          </a:p>
        </p:txBody>
      </p:sp>
      <p:sp>
        <p:nvSpPr>
          <p:cNvPr id="8" name="Shape 5"/>
          <p:cNvSpPr/>
          <p:nvPr/>
        </p:nvSpPr>
        <p:spPr>
          <a:xfrm>
            <a:off x="2206749" y="1291568"/>
            <a:ext cx="1000125" cy="475059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206749" y="1752340"/>
            <a:ext cx="1000125" cy="14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2206749" y="1291568"/>
            <a:ext cx="1000125" cy="475059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Cost</a:t>
            </a:r>
            <a:endParaRPr lang="en-US" sz="987" dirty="0"/>
          </a:p>
        </p:txBody>
      </p:sp>
      <p:sp>
        <p:nvSpPr>
          <p:cNvPr id="11" name="Shape 8"/>
          <p:cNvSpPr/>
          <p:nvPr/>
        </p:nvSpPr>
        <p:spPr>
          <a:xfrm>
            <a:off x="3206874" y="1371042"/>
            <a:ext cx="1635277" cy="301823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206874" y="1658578"/>
            <a:ext cx="1635277" cy="14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3206874" y="1371042"/>
            <a:ext cx="1635277" cy="301823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</a:t>
            </a:r>
            <a:endParaRPr lang="en-US" sz="987" dirty="0"/>
          </a:p>
        </p:txBody>
      </p:sp>
      <p:sp>
        <p:nvSpPr>
          <p:cNvPr id="14" name="Shape 11"/>
          <p:cNvSpPr/>
          <p:nvPr/>
        </p:nvSpPr>
        <p:spPr>
          <a:xfrm>
            <a:off x="571500" y="1809490"/>
            <a:ext cx="2106737" cy="635766"/>
          </a:xfrm>
          <a:prstGeom prst="rect">
            <a:avLst/>
          </a:prstGeom>
          <a:solidFill>
            <a:srgbClr val="FFFFFF">
              <a:alpha val="1000"/>
            </a:srgbClr>
          </a:solidFill>
          <a:ln w="9144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8650" y="1866640"/>
            <a:ext cx="1078037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SEO / Web Dev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628650" y="2243807"/>
            <a:ext cx="107803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Fixes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1579885" y="1866640"/>
            <a:ext cx="1041202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$3,500 - $5,500</a:t>
            </a:r>
            <a:endParaRPr lang="en-US" sz="885" dirty="0"/>
          </a:p>
        </p:txBody>
      </p:sp>
      <p:sp>
        <p:nvSpPr>
          <p:cNvPr id="18" name="Shape 15"/>
          <p:cNvSpPr/>
          <p:nvPr/>
        </p:nvSpPr>
        <p:spPr>
          <a:xfrm>
            <a:off x="2735387" y="1809490"/>
            <a:ext cx="2106764" cy="635766"/>
          </a:xfrm>
          <a:prstGeom prst="rect">
            <a:avLst/>
          </a:prstGeom>
          <a:solidFill>
            <a:srgbClr val="FFFFFF">
              <a:alpha val="1000"/>
            </a:srgbClr>
          </a:solidFill>
          <a:ln w="9144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92537" y="1866640"/>
            <a:ext cx="107806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Creation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2792537" y="2076655"/>
            <a:ext cx="107806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(FAQs/Bios)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3731298" y="1866640"/>
            <a:ext cx="105370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$4,000 - $6,500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571500" y="2488118"/>
            <a:ext cx="2106737" cy="808639"/>
          </a:xfrm>
          <a:prstGeom prst="rect">
            <a:avLst/>
          </a:prstGeom>
          <a:solidFill>
            <a:srgbClr val="FFFFFF">
              <a:alpha val="1000"/>
            </a:srgbClr>
          </a:solidFill>
          <a:ln w="9144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8650" y="2545268"/>
            <a:ext cx="1078037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Engagement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628650" y="2922436"/>
            <a:ext cx="1078037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 (Reddit)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1792412" y="2545268"/>
            <a:ext cx="82867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Time</a:t>
            </a:r>
            <a:endParaRPr lang="en-US" sz="885" dirty="0"/>
          </a:p>
        </p:txBody>
      </p:sp>
      <p:sp>
        <p:nvSpPr>
          <p:cNvPr id="26" name="Shape 23"/>
          <p:cNvSpPr/>
          <p:nvPr/>
        </p:nvSpPr>
        <p:spPr>
          <a:xfrm>
            <a:off x="2735387" y="2488118"/>
            <a:ext cx="2106764" cy="808639"/>
          </a:xfrm>
          <a:prstGeom prst="rect">
            <a:avLst/>
          </a:prstGeom>
          <a:solidFill>
            <a:srgbClr val="FFFFFF">
              <a:alpha val="1000"/>
            </a:srgbClr>
          </a:solidFill>
          <a:ln w="9144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92537" y="2545268"/>
            <a:ext cx="1078064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Tracking Tools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2792537" y="2922436"/>
            <a:ext cx="107806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2792537" y="3095309"/>
            <a:ext cx="107806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(Measurement)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3708081" y="2545268"/>
            <a:ext cx="1076920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$150 - $300 / mo</a:t>
            </a:r>
            <a:endParaRPr lang="en-US" sz="885" dirty="0"/>
          </a:p>
        </p:txBody>
      </p:sp>
      <p:sp>
        <p:nvSpPr>
          <p:cNvPr id="31" name="Shape 28"/>
          <p:cNvSpPr/>
          <p:nvPr/>
        </p:nvSpPr>
        <p:spPr>
          <a:xfrm>
            <a:off x="571500" y="3339619"/>
            <a:ext cx="4270651" cy="462893"/>
          </a:xfrm>
          <a:prstGeom prst="rect">
            <a:avLst/>
          </a:prstGeom>
          <a:solidFill>
            <a:srgbClr val="FFFFFF">
              <a:alpha val="1000"/>
            </a:srgbClr>
          </a:solidFill>
          <a:ln w="9144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8650" y="3396769"/>
            <a:ext cx="3241951" cy="167153"/>
          </a:xfrm>
          <a:prstGeom prst="rect">
            <a:avLst/>
          </a:prstGeom>
          <a:noFill/>
          <a:ln/>
        </p:spPr>
        <p:txBody>
          <a:bodyPr wrap="none" lIns="68072" tIns="0" rIns="68072" bIns="0" rtlCol="0" anchor="ctr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Estimated Hard Costs</a:t>
            </a:r>
            <a:endParaRPr lang="en-US" sz="885" dirty="0"/>
          </a:p>
        </p:txBody>
      </p:sp>
      <p:sp>
        <p:nvSpPr>
          <p:cNvPr id="33" name="Text 30"/>
          <p:cNvSpPr/>
          <p:nvPr/>
        </p:nvSpPr>
        <p:spPr>
          <a:xfrm>
            <a:off x="3927751" y="3396769"/>
            <a:ext cx="857250" cy="334305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ctr">
            <a:spAutoFit/>
          </a:bodyPr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$7,650 - $12,300</a:t>
            </a:r>
            <a:endParaRPr lang="en-US" sz="885" dirty="0"/>
          </a:p>
        </p:txBody>
      </p:sp>
      <p:sp>
        <p:nvSpPr>
          <p:cNvPr id="34" name="Shape 31"/>
          <p:cNvSpPr/>
          <p:nvPr/>
        </p:nvSpPr>
        <p:spPr>
          <a:xfrm>
            <a:off x="5013601" y="1291568"/>
            <a:ext cx="3558899" cy="136158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5013601" y="1291568"/>
            <a:ext cx="42863" cy="136158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3"/>
          <p:cNvSpPr/>
          <p:nvPr/>
        </p:nvSpPr>
        <p:spPr>
          <a:xfrm>
            <a:off x="5099326" y="1377293"/>
            <a:ext cx="338744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AI Conversion Advantage</a:t>
            </a:r>
            <a:endParaRPr lang="en-US" sz="1193" dirty="0"/>
          </a:p>
        </p:txBody>
      </p:sp>
      <p:sp>
        <p:nvSpPr>
          <p:cNvPr id="37" name="Text 34"/>
          <p:cNvSpPr/>
          <p:nvPr/>
        </p:nvSpPr>
        <p:spPr>
          <a:xfrm>
            <a:off x="5099326" y="1641611"/>
            <a:ext cx="338744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</a:t>
            </a:r>
            <a:endParaRPr lang="en-US" sz="2436" dirty="0"/>
          </a:p>
        </p:txBody>
      </p:sp>
      <p:sp>
        <p:nvSpPr>
          <p:cNvPr id="38" name="Text 35"/>
          <p:cNvSpPr/>
          <p:nvPr/>
        </p:nvSpPr>
        <p:spPr>
          <a:xfrm>
            <a:off x="5099326" y="2027374"/>
            <a:ext cx="3387449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 case studies show that referral traffic from AI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engines (ChatGPT, Perplexity) converts at </a:t>
            </a:r>
            <a:r>
              <a:rPr lang="en-US" sz="88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times </a:t>
            </a:r>
            <a:r>
              <a:rPr lang="en-US" sz="88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rate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traditional Google search traffic.</a:t>
            </a:r>
            <a:endParaRPr lang="en-US" sz="942" dirty="0"/>
          </a:p>
        </p:txBody>
      </p:sp>
      <p:sp>
        <p:nvSpPr>
          <p:cNvPr id="39" name="Shape 36"/>
          <p:cNvSpPr/>
          <p:nvPr/>
        </p:nvSpPr>
        <p:spPr>
          <a:xfrm>
            <a:off x="5013601" y="2738875"/>
            <a:ext cx="3558899" cy="1361582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013601" y="2738875"/>
            <a:ext cx="42863" cy="136158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1" name="Text 38"/>
          <p:cNvSpPr/>
          <p:nvPr/>
        </p:nvSpPr>
        <p:spPr>
          <a:xfrm>
            <a:off x="5099326" y="2824600"/>
            <a:ext cx="338744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Speed-to-Lead Multiplier</a:t>
            </a:r>
            <a:endParaRPr lang="en-US" sz="1193" dirty="0"/>
          </a:p>
        </p:txBody>
      </p:sp>
      <p:sp>
        <p:nvSpPr>
          <p:cNvPr id="42" name="Text 39"/>
          <p:cNvSpPr/>
          <p:nvPr/>
        </p:nvSpPr>
        <p:spPr>
          <a:xfrm>
            <a:off x="5099326" y="3088918"/>
            <a:ext cx="338744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21x</a:t>
            </a:r>
            <a:endParaRPr lang="en-US" sz="2436" dirty="0"/>
          </a:p>
        </p:txBody>
      </p:sp>
      <p:sp>
        <p:nvSpPr>
          <p:cNvPr id="43" name="Text 40"/>
          <p:cNvSpPr/>
          <p:nvPr/>
        </p:nvSpPr>
        <p:spPr>
          <a:xfrm>
            <a:off x="5099326" y="3474681"/>
            <a:ext cx="3387449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industry average close rate is 39%. However,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contacted within 5 minutes are </a:t>
            </a:r>
            <a:r>
              <a:rPr lang="en-US" sz="88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times more </a:t>
            </a:r>
            <a:r>
              <a:rPr lang="en-US" sz="88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likely to book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Phase 4 implements this SLA.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8229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Invisible to Recommended — The 90-Day Transformation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71500" y="1365852"/>
            <a:ext cx="3936206" cy="113061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5800" y="1480152"/>
            <a:ext cx="428625" cy="428625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97" y="1594452"/>
            <a:ext cx="250031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57300" y="1480152"/>
            <a:ext cx="31361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 AI Crawlability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1257300" y="1730183"/>
            <a:ext cx="31361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</a:t>
            </a:r>
            <a:r>
              <a:rPr lang="en-US" sz="88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sites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fully readable by ChatGPT, Perplexity,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Google AI with proper llms.txt and schema.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4636294" y="1365852"/>
            <a:ext cx="3936206" cy="113061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750594" y="1480152"/>
            <a:ext cx="428625" cy="428625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894" y="1594452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22094" y="1480152"/>
            <a:ext cx="31361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Answers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5322094" y="1730183"/>
            <a:ext cx="31361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FAQ pages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feeding factual, claim-based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directly to AI models for user queries.</a:t>
            </a:r>
            <a:endParaRPr lang="en-US" sz="885" dirty="0"/>
          </a:p>
        </p:txBody>
      </p:sp>
      <p:sp>
        <p:nvSpPr>
          <p:cNvPr id="14" name="Shape 9"/>
          <p:cNvSpPr/>
          <p:nvPr/>
        </p:nvSpPr>
        <p:spPr>
          <a:xfrm>
            <a:off x="571500" y="2625049"/>
            <a:ext cx="3936206" cy="113063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85800" y="2739349"/>
            <a:ext cx="428625" cy="428625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853649"/>
            <a:ext cx="200025" cy="2000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57300" y="2739349"/>
            <a:ext cx="31361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 Community Presence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1257300" y="2989380"/>
            <a:ext cx="31361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5+ active Reddit accounts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100+ karma each,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generating earned media mentions safely.</a:t>
            </a:r>
            <a:endParaRPr lang="en-US" sz="885" dirty="0"/>
          </a:p>
        </p:txBody>
      </p:sp>
      <p:sp>
        <p:nvSpPr>
          <p:cNvPr id="19" name="Shape 13"/>
          <p:cNvSpPr/>
          <p:nvPr/>
        </p:nvSpPr>
        <p:spPr>
          <a:xfrm>
            <a:off x="4636294" y="2625049"/>
            <a:ext cx="3936206" cy="113063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750594" y="2739349"/>
            <a:ext cx="428625" cy="428625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894" y="2853649"/>
            <a:ext cx="200025" cy="2000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22094" y="2739349"/>
            <a:ext cx="31361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Measurable Share of Voice</a:t>
            </a:r>
            <a:endParaRPr lang="en-US" sz="1193" dirty="0"/>
          </a:p>
        </p:txBody>
      </p:sp>
      <p:sp>
        <p:nvSpPr>
          <p:cNvPr id="23" name="Text 16"/>
          <p:cNvSpPr/>
          <p:nvPr/>
        </p:nvSpPr>
        <p:spPr>
          <a:xfrm>
            <a:off x="5322094" y="2989380"/>
            <a:ext cx="31361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Trackable increases in AI recommendations across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</a:t>
            </a:r>
            <a:r>
              <a:rPr lang="en-US" sz="88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domestic and international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moving queries.</a:t>
            </a:r>
            <a:endParaRPr lang="en-US" sz="942" dirty="0"/>
          </a:p>
        </p:txBody>
      </p:sp>
      <p:sp>
        <p:nvSpPr>
          <p:cNvPr id="24" name="Shape 17"/>
          <p:cNvSpPr/>
          <p:nvPr/>
        </p:nvSpPr>
        <p:spPr>
          <a:xfrm>
            <a:off x="571500" y="3884275"/>
            <a:ext cx="3936206" cy="113063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85800" y="3998575"/>
            <a:ext cx="428625" cy="428625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103" y="4112875"/>
            <a:ext cx="150019" cy="20002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57300" y="3998575"/>
            <a:ext cx="31361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Research Authority</a:t>
            </a:r>
            <a:endParaRPr lang="en-US" sz="1193" dirty="0"/>
          </a:p>
        </p:txBody>
      </p:sp>
      <p:sp>
        <p:nvSpPr>
          <p:cNvPr id="28" name="Text 20"/>
          <p:cNvSpPr/>
          <p:nvPr/>
        </p:nvSpPr>
        <p:spPr>
          <a:xfrm>
            <a:off x="1257300" y="4248606"/>
            <a:ext cx="31361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original research report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published and cited by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engines as a definitive industry source.</a:t>
            </a:r>
            <a:endParaRPr lang="en-US" sz="885" dirty="0"/>
          </a:p>
        </p:txBody>
      </p:sp>
      <p:sp>
        <p:nvSpPr>
          <p:cNvPr id="29" name="Shape 21"/>
          <p:cNvSpPr/>
          <p:nvPr/>
        </p:nvSpPr>
        <p:spPr>
          <a:xfrm>
            <a:off x="4636294" y="3884275"/>
            <a:ext cx="3936206" cy="113063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4750594" y="3998575"/>
            <a:ext cx="428625" cy="428625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7395" y="4112875"/>
            <a:ext cx="175022" cy="20002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322094" y="3998575"/>
            <a:ext cx="31361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 Conversion</a:t>
            </a:r>
            <a:endParaRPr lang="en-US" sz="1193" dirty="0"/>
          </a:p>
        </p:txBody>
      </p:sp>
      <p:sp>
        <p:nvSpPr>
          <p:cNvPr id="33" name="Text 24"/>
          <p:cNvSpPr/>
          <p:nvPr/>
        </p:nvSpPr>
        <p:spPr>
          <a:xfrm>
            <a:off x="5322094" y="4248606"/>
            <a:ext cx="313610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strict </a:t>
            </a:r>
            <a:r>
              <a:rPr lang="en-US" sz="88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5-minute lead response SLA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implemented, </a:t>
            </a:r>
            <a:r>
              <a:rPr lang="en-US" sz="942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increasing booking likelihood by 21x.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415063"/>
            <a:ext cx="7429500" cy="96010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the Sprint Plan and We Start Monday</a:t>
            </a:r>
            <a:endParaRPr lang="en-US" sz="2862" dirty="0"/>
          </a:p>
        </p:txBody>
      </p:sp>
      <p:sp>
        <p:nvSpPr>
          <p:cNvPr id="4" name="Shape 1"/>
          <p:cNvSpPr/>
          <p:nvPr/>
        </p:nvSpPr>
        <p:spPr>
          <a:xfrm>
            <a:off x="857250" y="1518047"/>
            <a:ext cx="7429500" cy="49827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71563" y="1610916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1528763" y="1663601"/>
            <a:ext cx="503634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the </a:t>
            </a: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90-Day Sprint Plan (v2.0)</a:t>
            </a: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covering all 19 brands.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857250" y="2094905"/>
            <a:ext cx="7429500" cy="49827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1563" y="2187773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8" dirty="0"/>
          </a:p>
        </p:txBody>
      </p:sp>
      <p:sp>
        <p:nvSpPr>
          <p:cNvPr id="9" name="Text 6"/>
          <p:cNvSpPr/>
          <p:nvPr/>
        </p:nvSpPr>
        <p:spPr>
          <a:xfrm>
            <a:off x="1528763" y="2240459"/>
            <a:ext cx="517921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 </a:t>
            </a: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development resources</a:t>
            </a: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Phase 1 technical fixes.</a:t>
            </a:r>
            <a:endParaRPr lang="en-US" sz="1269" dirty="0"/>
          </a:p>
        </p:txBody>
      </p:sp>
      <p:sp>
        <p:nvSpPr>
          <p:cNvPr id="10" name="Shape 7"/>
          <p:cNvSpPr/>
          <p:nvPr/>
        </p:nvSpPr>
        <p:spPr>
          <a:xfrm>
            <a:off x="857250" y="2671763"/>
            <a:ext cx="7429500" cy="49827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71563" y="2764631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8" dirty="0"/>
          </a:p>
        </p:txBody>
      </p:sp>
      <p:sp>
        <p:nvSpPr>
          <p:cNvPr id="12" name="Text 9"/>
          <p:cNvSpPr/>
          <p:nvPr/>
        </p:nvSpPr>
        <p:spPr>
          <a:xfrm>
            <a:off x="1528763" y="2817316"/>
            <a:ext cx="601503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Designate </a:t>
            </a: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3-5 team members</a:t>
            </a: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Reddit community engagement training.</a:t>
            </a:r>
            <a:endParaRPr lang="en-US" sz="1269" dirty="0"/>
          </a:p>
        </p:txBody>
      </p:sp>
      <p:sp>
        <p:nvSpPr>
          <p:cNvPr id="13" name="Shape 10"/>
          <p:cNvSpPr/>
          <p:nvPr/>
        </p:nvSpPr>
        <p:spPr>
          <a:xfrm>
            <a:off x="857250" y="3248620"/>
            <a:ext cx="7429500" cy="498277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1563" y="3341489"/>
            <a:ext cx="285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8" dirty="0"/>
          </a:p>
        </p:txBody>
      </p:sp>
      <p:sp>
        <p:nvSpPr>
          <p:cNvPr id="15" name="Text 12"/>
          <p:cNvSpPr/>
          <p:nvPr/>
        </p:nvSpPr>
        <p:spPr>
          <a:xfrm>
            <a:off x="1528763" y="3394174"/>
            <a:ext cx="448270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the budget: </a:t>
            </a:r>
            <a:r>
              <a:rPr lang="en-US" sz="119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$7,650 - $12,300</a:t>
            </a:r>
            <a:r>
              <a:rPr lang="en-US" sz="1269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total hard costs.</a:t>
            </a:r>
            <a:endParaRPr lang="en-US" sz="1269" dirty="0"/>
          </a:p>
        </p:txBody>
      </p:sp>
      <p:sp>
        <p:nvSpPr>
          <p:cNvPr id="16" name="Shape 13"/>
          <p:cNvSpPr/>
          <p:nvPr/>
        </p:nvSpPr>
        <p:spPr>
          <a:xfrm>
            <a:off x="857250" y="3882628"/>
            <a:ext cx="7429500" cy="817234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857250" y="3882628"/>
            <a:ext cx="42863" cy="81723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1071563" y="4011216"/>
            <a:ext cx="700087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97" b="1" i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brands are the asset. The AI engines are the opportunity. The sprint plan is the bridge."</a:t>
            </a:r>
            <a:endParaRPr lang="en-US" sz="139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2026-03-27T21:24:28Z</dcterms:created>
  <dcterms:modified xsi:type="dcterms:W3CDTF">2026-03-27T21:24:28Z</dcterms:modified>
</cp:coreProperties>
</file>