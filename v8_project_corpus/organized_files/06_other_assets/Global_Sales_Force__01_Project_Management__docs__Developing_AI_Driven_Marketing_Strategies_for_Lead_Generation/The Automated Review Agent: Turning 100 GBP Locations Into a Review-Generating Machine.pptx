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240724"/>
            <a:ext cx="71437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353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Automated Review Agent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1000125" y="2732317"/>
            <a:ext cx="714375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100 GBP Locations Into a Review-Generating Machine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257425" y="3829552"/>
            <a:ext cx="4629150" cy="416123"/>
          </a:xfrm>
          <a:prstGeom prst="round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57425" y="3829552"/>
            <a:ext cx="4629150" cy="416123"/>
          </a:xfrm>
          <a:prstGeom prst="rect">
            <a:avLst/>
          </a:prstGeom>
          <a:noFill/>
          <a:ln/>
        </p:spPr>
        <p:txBody>
          <a:bodyPr wrap="square" lIns="272161" tIns="136017" rIns="272161" bIns="136017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SALES FORCE — 19 BRANDS, 100+ LOCATIONS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177700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7250"/>
            <a:ext cx="3636811" cy="2777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 of consumers 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reviews 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 their 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buying decision — 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275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cite </a:t>
            </a:r>
            <a:r>
              <a:rPr lang="en-US" sz="275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 as proof.</a:t>
            </a:r>
            <a:endParaRPr lang="en-US" sz="2755" dirty="0"/>
          </a:p>
        </p:txBody>
      </p:sp>
      <p:sp>
        <p:nvSpPr>
          <p:cNvPr id="5" name="Text 2"/>
          <p:cNvSpPr/>
          <p:nvPr/>
        </p:nvSpPr>
        <p:spPr>
          <a:xfrm>
            <a:off x="4351186" y="878681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636936" y="857250"/>
            <a:ext cx="407843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conglomerate has ~100 Google Business </a:t>
            </a: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locations but </a:t>
            </a:r>
            <a:r>
              <a:rPr lang="en-US" sz="1193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systematic review process</a:t>
            </a: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351186" y="1764506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636936" y="1743075"/>
            <a:ext cx="407843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International Van Lines has 1,600+ Yelp reviews (even at 1.5 stars, they dominate AI results).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351186" y="2650331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636936" y="2628900"/>
            <a:ext cx="407843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(ChatGPT, Perplexity, Google AI) pull directly from review volume and sentiment to make recommendations.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351186" y="3536156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636936" y="3514725"/>
            <a:ext cx="40784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state: Reviews are left entirely to chance — no follow-up, no system, no tracking.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4351186" y="4229100"/>
            <a:ext cx="4364189" cy="607219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351186" y="4229100"/>
            <a:ext cx="28575" cy="60721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465486" y="4343400"/>
            <a:ext cx="413558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companies with 50+ Google reviews get 266% more leads than those with fewer than 10.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24020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000125" y="785813"/>
            <a:ext cx="71437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existing satisfaction text system is </a:t>
            </a: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 — </a:t>
            </a: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just need to connect </a:t>
            </a: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it.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2320240"/>
            <a:ext cx="2552691" cy="268889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320240"/>
            <a:ext cx="2552691" cy="28575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491690"/>
            <a:ext cx="226694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B4D8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714375" y="3091765"/>
            <a:ext cx="2266941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Missing Link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714375" y="3437511"/>
            <a:ext cx="226694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Alex's system already texts customers post-move to gauge satisfaction. Happy customers are identified but never routed to leave a public review.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5641" y="2320240"/>
            <a:ext cx="2552691" cy="268889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295641" y="2320240"/>
            <a:ext cx="2552691" cy="28575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3438516" y="2491690"/>
            <a:ext cx="226694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B4D8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3438516" y="3091765"/>
            <a:ext cx="2266941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Bridge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438516" y="3437511"/>
            <a:ext cx="22669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automated agent bridges this exact gap, turning internal feedback into public reputation automatically.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38516" y="4437636"/>
            <a:ext cx="2266941" cy="269677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671860" y="4494786"/>
            <a:ext cx="383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112986" y="4503716"/>
            <a:ext cx="114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284436" y="4494786"/>
            <a:ext cx="5107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852364" y="4503716"/>
            <a:ext cx="114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023814" y="4494786"/>
            <a:ext cx="4482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6019781" y="2320240"/>
            <a:ext cx="2552719" cy="268889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019781" y="2320240"/>
            <a:ext cx="2552719" cy="28575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6162656" y="2491690"/>
            <a:ext cx="22669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B4D8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94" dirty="0"/>
          </a:p>
        </p:txBody>
      </p:sp>
      <p:sp>
        <p:nvSpPr>
          <p:cNvPr id="24" name="Text 21"/>
          <p:cNvSpPr/>
          <p:nvPr/>
        </p:nvSpPr>
        <p:spPr>
          <a:xfrm>
            <a:off x="6162656" y="3091765"/>
            <a:ext cx="2266969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Scale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6162656" y="3437511"/>
            <a:ext cx="226696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100+ locations, even a conservative 15% conversion rate equals hundreds of new reviews per month. This is the highest-ROI project because it compounds.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444519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POLICY REALITY CHECK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85825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platform has different rules — here's the cheat sheet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1748768"/>
            <a:ext cx="1565904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073808"/>
            <a:ext cx="1565904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748768"/>
            <a:ext cx="1565904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2137404" y="1748768"/>
            <a:ext cx="782938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137404" y="2073808"/>
            <a:ext cx="782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2137404" y="1748768"/>
            <a:ext cx="782938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Ask?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2920343" y="1748768"/>
            <a:ext cx="1565932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920343" y="2073808"/>
            <a:ext cx="1565932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2920343" y="1748768"/>
            <a:ext cx="1565932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Rule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71500" y="2080952"/>
            <a:ext cx="1565904" cy="71794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2137404" y="2080952"/>
            <a:ext cx="782938" cy="71794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920343" y="2080952"/>
            <a:ext cx="1565932" cy="71794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payment, discounts, or gifts for reviews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" y="2798899"/>
            <a:ext cx="3914775" cy="7215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798899"/>
            <a:ext cx="1565904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Yelp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2137404" y="2798899"/>
            <a:ext cx="782938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920343" y="2798899"/>
            <a:ext cx="1565932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solicitation — even asking is prohibited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" y="3520418"/>
            <a:ext cx="1565904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2137404" y="3520418"/>
            <a:ext cx="782938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920343" y="3520418"/>
            <a:ext cx="1565932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rules apply; no required positive sentiment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57725" y="1748768"/>
            <a:ext cx="1565904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657725" y="2073808"/>
            <a:ext cx="1565904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4657725" y="1748768"/>
            <a:ext cx="1565904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6223629" y="1748768"/>
            <a:ext cx="782938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223629" y="2073808"/>
            <a:ext cx="782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6"/>
          <p:cNvSpPr/>
          <p:nvPr/>
        </p:nvSpPr>
        <p:spPr>
          <a:xfrm>
            <a:off x="6223629" y="1748768"/>
            <a:ext cx="782938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Ask?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7006568" y="1748768"/>
            <a:ext cx="1565932" cy="33932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006568" y="2073808"/>
            <a:ext cx="1565932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9"/>
          <p:cNvSpPr/>
          <p:nvPr/>
        </p:nvSpPr>
        <p:spPr>
          <a:xfrm>
            <a:off x="7006568" y="1748768"/>
            <a:ext cx="1565932" cy="33932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Rule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4657725" y="2080952"/>
            <a:ext cx="1565904" cy="5179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BBB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6223629" y="2080952"/>
            <a:ext cx="782938" cy="5179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7006568" y="2080952"/>
            <a:ext cx="1565932" cy="5179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Solicitation allowed; incentives not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57725" y="2598874"/>
            <a:ext cx="3914775" cy="7215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4657725" y="2598874"/>
            <a:ext cx="1565904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Website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6223629" y="2598874"/>
            <a:ext cx="782938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7006568" y="2598874"/>
            <a:ext cx="1565932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Disclose incentives; don't require positive reviews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57725" y="3320393"/>
            <a:ext cx="1565904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</a:t>
            </a:r>
            <a:endParaRPr lang="en-US" sz="987" dirty="0"/>
          </a:p>
        </p:txBody>
      </p:sp>
      <p:sp>
        <p:nvSpPr>
          <p:cNvPr id="41" name="Text 38"/>
          <p:cNvSpPr/>
          <p:nvPr/>
        </p:nvSpPr>
        <p:spPr>
          <a:xfrm>
            <a:off x="6223629" y="3320393"/>
            <a:ext cx="782938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006568" y="3320393"/>
            <a:ext cx="1565932" cy="7215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review platform — use for authority building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71500" y="4445533"/>
            <a:ext cx="8001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Google Maps UGC Policy, Yelp Support Center, FTC Consumer Reviews Rule (Oct 2024)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4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253067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FTC FINE PRINT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85813"/>
            <a:ext cx="4586288" cy="1380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FTC does NOT ban </a:t>
            </a: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incentivized reviews — it bans </a:t>
            </a:r>
            <a:r>
              <a:rPr lang="en-US" sz="2121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incentivized POSITIVE </a:t>
            </a:r>
            <a:r>
              <a:rPr lang="en-US" sz="2121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reviews.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2308771"/>
            <a:ext cx="4586288" cy="77866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308771"/>
            <a:ext cx="28575" cy="77866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671513" y="2408783"/>
            <a:ext cx="43862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Rule does not prohibit giving incentives for reviews, as long as there is not an express or implied requirement that the reviews have to express a particular sentiment." — FTC Rule (Oct 21, 2024)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230314"/>
            <a:ext cx="1196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76883" y="3201739"/>
            <a:ext cx="41987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PROHIBITED:</a:t>
            </a: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Saying "tell us how much you loved your move."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3544639"/>
            <a:ext cx="1196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76883" y="3516064"/>
            <a:ext cx="43809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PROHIBITED:</a:t>
            </a: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Review Gating (routing happy customers to public </a:t>
            </a: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sites, unhappy to private).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4030414"/>
            <a:ext cx="1196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76883" y="4001839"/>
            <a:ext cx="43809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COMPLIANT:</a:t>
            </a: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Sending a satisfaction survey FIRST, then sending </a:t>
            </a: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respondents a review request.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571500" y="4544764"/>
            <a:ext cx="4586288" cy="389334"/>
          </a:xfrm>
          <a:prstGeom prst="rect">
            <a:avLst/>
          </a:prstGeom>
          <a:solidFill>
            <a:srgbClr val="FF0000">
              <a:alpha val="10000"/>
            </a:srgbClr>
          </a:solidFill>
          <a:ln w="18288">
            <a:solidFill>
              <a:srgbClr val="F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7225" y="4630489"/>
            <a:ext cx="441483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FOR VIOLATIONS: $53,088 PER INCIDENT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71500" y="4905524"/>
            <a:ext cx="4586288" cy="250031"/>
          </a:xfrm>
          <a:prstGeom prst="rect">
            <a:avLst/>
          </a:prstGeom>
          <a:noFill/>
          <a:ln/>
        </p:spPr>
        <p:txBody>
          <a:bodyPr wrap="square" lIns="0" tIns="0" rIns="0" bIns="15303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National Law Review, FTC 16 C.F.R 255.5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514975" y="1843757"/>
            <a:ext cx="3057525" cy="18573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B4D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13" y="1915195"/>
            <a:ext cx="2914650" cy="17145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14975" y="3786857"/>
            <a:ext cx="30575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THE PORTFOLIO ACROSS ALL BRANDS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361652"/>
            <a:ext cx="19377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PLAYBOOK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strategies that stay within the lines but maximize review generation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1863068"/>
            <a:ext cx="2476481" cy="1050131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63068"/>
            <a:ext cx="35719" cy="105013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92021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985838" y="1920218"/>
            <a:ext cx="1947844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Two-Step Decoupled System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985838" y="2341699"/>
            <a:ext cx="1947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card for a survey (not a review); follow up with a non-incentivized review request.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333731" y="1863068"/>
            <a:ext cx="2476509" cy="105013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333731" y="1863068"/>
            <a:ext cx="21431" cy="105013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3448031" y="192021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3748069" y="1920218"/>
            <a:ext cx="194787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Own-Site Testimonial Engine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3748069" y="2341699"/>
            <a:ext cx="19478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$15 for testimonials on our WordPress sites with clear disclosure.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6095991" y="1863068"/>
            <a:ext cx="2476481" cy="105013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95991" y="1863068"/>
            <a:ext cx="21431" cy="105013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6210291" y="192021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510328" y="1920218"/>
            <a:ext cx="1947844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Review Solicitation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6510328" y="2341699"/>
            <a:ext cx="1947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short text/email with a direct Google review link within 24 hours. No incentive.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71500" y="3027499"/>
            <a:ext cx="2476481" cy="86082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3027499"/>
            <a:ext cx="21431" cy="86082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084649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985838" y="3084649"/>
            <a:ext cx="1947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Testimonials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985838" y="3316821"/>
            <a:ext cx="1947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willing customers and post on YouTube; embed on sites for extra visibility.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3333731" y="3027499"/>
            <a:ext cx="2476509" cy="86082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333731" y="3027499"/>
            <a:ext cx="21431" cy="86082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3448031" y="3084649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3748069" y="3084649"/>
            <a:ext cx="194787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Story Interviews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3748069" y="3316821"/>
            <a:ext cx="19478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customers and publish editorial-style posts—different from "reviews."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6095991" y="3027499"/>
            <a:ext cx="2476481" cy="86082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095991" y="3027499"/>
            <a:ext cx="21431" cy="86082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9"/>
          <p:cNvSpPr/>
          <p:nvPr/>
        </p:nvSpPr>
        <p:spPr>
          <a:xfrm>
            <a:off x="6210291" y="3084649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6510328" y="3084649"/>
            <a:ext cx="1947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BBB Review Requests</a:t>
            </a:r>
            <a:endParaRPr lang="en-US" sz="1090" dirty="0"/>
          </a:p>
        </p:txBody>
      </p:sp>
      <p:sp>
        <p:nvSpPr>
          <p:cNvPr id="34" name="Text 31"/>
          <p:cNvSpPr/>
          <p:nvPr/>
        </p:nvSpPr>
        <p:spPr>
          <a:xfrm>
            <a:off x="6510328" y="3316821"/>
            <a:ext cx="1947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 reviews via BBB—high authority and allowed by their policies.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571500" y="4002621"/>
            <a:ext cx="2476481" cy="86082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4002621"/>
            <a:ext cx="21431" cy="86082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4059771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93" dirty="0"/>
          </a:p>
        </p:txBody>
      </p:sp>
      <p:sp>
        <p:nvSpPr>
          <p:cNvPr id="38" name="Text 35"/>
          <p:cNvSpPr/>
          <p:nvPr/>
        </p:nvSpPr>
        <p:spPr>
          <a:xfrm>
            <a:off x="985838" y="4059771"/>
            <a:ext cx="19478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Authority Building</a:t>
            </a:r>
            <a:endParaRPr lang="en-US" sz="1090" dirty="0"/>
          </a:p>
        </p:txBody>
      </p:sp>
      <p:sp>
        <p:nvSpPr>
          <p:cNvPr id="39" name="Text 36"/>
          <p:cNvSpPr/>
          <p:nvPr/>
        </p:nvSpPr>
        <p:spPr>
          <a:xfrm>
            <a:off x="985838" y="4291943"/>
            <a:ext cx="1947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expert presence on Reddit (90/10 rule) that AI engines reference—not direct reviews.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46650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ARCHITECTURE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28688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4-stage automated pipeline from move completion to public review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1343025" y="1791630"/>
            <a:ext cx="457200" cy="4572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43025" y="1791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78656" y="2334555"/>
            <a:ext cx="1785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678656" y="2648880"/>
            <a:ext cx="1785938" cy="14472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78656" y="2648880"/>
            <a:ext cx="1785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64381" y="2734605"/>
            <a:ext cx="16144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is marked as </a:t>
            </a: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"Complete"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CRM 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64381" y="3356111"/>
            <a:ext cx="16144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initiates the automated sequence without manual intervention.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343275" y="1791630"/>
            <a:ext cx="457200" cy="4572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43275" y="1791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2678906" y="2334555"/>
            <a:ext cx="1785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2678906" y="2648880"/>
            <a:ext cx="1785938" cy="14472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678906" y="2648880"/>
            <a:ext cx="1785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2764631" y="2734605"/>
            <a:ext cx="16144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text sent via existing system.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2764631" y="3163230"/>
            <a:ext cx="16144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is asked to rate their experience from 1 to 10.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343525" y="1791630"/>
            <a:ext cx="457200" cy="4572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3525" y="1791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679156" y="2334555"/>
            <a:ext cx="1785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1193" dirty="0"/>
          </a:p>
        </p:txBody>
      </p:sp>
      <p:sp>
        <p:nvSpPr>
          <p:cNvPr id="22" name="Shape 19"/>
          <p:cNvSpPr/>
          <p:nvPr/>
        </p:nvSpPr>
        <p:spPr>
          <a:xfrm>
            <a:off x="4679156" y="2648880"/>
            <a:ext cx="1785938" cy="14472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679156" y="2648880"/>
            <a:ext cx="1785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4764881" y="2734605"/>
            <a:ext cx="16144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customers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 review 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(Google + Own-site) 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gift card offer.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764881" y="3356111"/>
            <a:ext cx="161448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Unhappy customers (1-6) ALSO get an escalation message to customer service.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7343775" y="1791630"/>
            <a:ext cx="457200" cy="457200"/>
          </a:xfrm>
          <a:prstGeom prst="ellipse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43775" y="17916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97" dirty="0"/>
          </a:p>
        </p:txBody>
      </p:sp>
      <p:sp>
        <p:nvSpPr>
          <p:cNvPr id="28" name="Text 25"/>
          <p:cNvSpPr/>
          <p:nvPr/>
        </p:nvSpPr>
        <p:spPr>
          <a:xfrm>
            <a:off x="6679406" y="2334555"/>
            <a:ext cx="1785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6679406" y="2648880"/>
            <a:ext cx="1785938" cy="143299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679406" y="2648880"/>
            <a:ext cx="1785938" cy="14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6765131" y="2734605"/>
            <a:ext cx="16144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 review is posted after 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days, </a:t>
            </a:r>
            <a:r>
              <a:rPr lang="en-US" sz="88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follow-up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</a:t>
            </a: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sent.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765131" y="3356111"/>
            <a:ext cx="16144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then stops to prevent spamming the customer.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571500" y="4224747"/>
            <a:ext cx="8001000" cy="61146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71500" y="4224747"/>
            <a:ext cx="42863" cy="6114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2"/>
          <p:cNvSpPr/>
          <p:nvPr/>
        </p:nvSpPr>
        <p:spPr>
          <a:xfrm>
            <a:off x="785813" y="4374207"/>
            <a:ext cx="928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808" dirty="0"/>
          </a:p>
        </p:txBody>
      </p:sp>
      <p:sp>
        <p:nvSpPr>
          <p:cNvPr id="36" name="Text 33"/>
          <p:cNvSpPr/>
          <p:nvPr/>
        </p:nvSpPr>
        <p:spPr>
          <a:xfrm>
            <a:off x="1021556" y="4310472"/>
            <a:ext cx="7336631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COMPLIANCE POINT: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customers get the same review request regardless of their 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score.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review gating.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ensures 100% FTC compliance.</a:t>
            </a:r>
            <a:endParaRPr lang="en-US" sz="11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35934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MULTI-BRAND ENGINE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system, 19 brands, 100+ locations — </a:t>
            </a: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how it scales.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823052"/>
            <a:ext cx="2581266" cy="114936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23052"/>
            <a:ext cx="28575" cy="114936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933780"/>
            <a:ext cx="321469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569" y="1908777"/>
            <a:ext cx="19454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Brand-Specific Pages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121569" y="2158808"/>
            <a:ext cx="1945472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brand has a dedicated review landing page on its WordPress site.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281353" y="1823052"/>
            <a:ext cx="2581266" cy="114936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281353" y="1823052"/>
            <a:ext cx="28575" cy="114936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513" y="1933780"/>
            <a:ext cx="192881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31422" y="1908777"/>
            <a:ext cx="19454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Location-Specific Links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3831422" y="2365977"/>
            <a:ext cx="1945472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review links are mapped to each Google Business Profile location.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5991206" y="1823052"/>
            <a:ext cx="2581294" cy="114936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991206" y="1823052"/>
            <a:ext cx="28575" cy="114936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19" y="1933780"/>
            <a:ext cx="257175" cy="257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41275" y="1908777"/>
            <a:ext cx="1945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Routing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541275" y="2158808"/>
            <a:ext cx="1945500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picks the correct brand &amp; location link from the CRM record.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571500" y="3101001"/>
            <a:ext cx="2581266" cy="94219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571500" y="3101001"/>
            <a:ext cx="28575" cy="94219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3211730"/>
            <a:ext cx="257175" cy="2571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1569" y="3186726"/>
            <a:ext cx="19454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Dashboard</a:t>
            </a:r>
            <a:endParaRPr lang="en-US" sz="1193" dirty="0"/>
          </a:p>
        </p:txBody>
      </p:sp>
      <p:sp>
        <p:nvSpPr>
          <p:cNvPr id="24" name="Text 17"/>
          <p:cNvSpPr/>
          <p:nvPr/>
        </p:nvSpPr>
        <p:spPr>
          <a:xfrm>
            <a:off x="1121569" y="3436758"/>
            <a:ext cx="1945472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dashboard tracking volume, sentiment, and response rates across brands.</a:t>
            </a:r>
            <a:endParaRPr lang="en-US" sz="942" dirty="0"/>
          </a:p>
        </p:txBody>
      </p:sp>
      <p:sp>
        <p:nvSpPr>
          <p:cNvPr id="25" name="Shape 18"/>
          <p:cNvSpPr/>
          <p:nvPr/>
        </p:nvSpPr>
        <p:spPr>
          <a:xfrm>
            <a:off x="3281353" y="3101001"/>
            <a:ext cx="2581266" cy="94219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3281353" y="3101001"/>
            <a:ext cx="28575" cy="94219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513" y="3211730"/>
            <a:ext cx="192881" cy="2571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31422" y="3186726"/>
            <a:ext cx="19454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Reporting</a:t>
            </a:r>
            <a:endParaRPr lang="en-US" sz="1193" dirty="0"/>
          </a:p>
        </p:txBody>
      </p:sp>
      <p:sp>
        <p:nvSpPr>
          <p:cNvPr id="29" name="Text 21"/>
          <p:cNvSpPr/>
          <p:nvPr/>
        </p:nvSpPr>
        <p:spPr>
          <a:xfrm>
            <a:off x="3831422" y="3436758"/>
            <a:ext cx="1945472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summaries: reviews, average ratings, response times, and gift cards.</a:t>
            </a:r>
            <a:endParaRPr lang="en-US" sz="942" dirty="0"/>
          </a:p>
        </p:txBody>
      </p:sp>
      <p:sp>
        <p:nvSpPr>
          <p:cNvPr id="30" name="Shape 22"/>
          <p:cNvSpPr/>
          <p:nvPr/>
        </p:nvSpPr>
        <p:spPr>
          <a:xfrm>
            <a:off x="5991206" y="3101001"/>
            <a:ext cx="2581294" cy="94219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5991206" y="3101001"/>
            <a:ext cx="28575" cy="94219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219" y="3211730"/>
            <a:ext cx="257175" cy="2571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541275" y="3186726"/>
            <a:ext cx="1945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Spam Prevention</a:t>
            </a:r>
            <a:endParaRPr lang="en-US" sz="1193" dirty="0"/>
          </a:p>
        </p:txBody>
      </p:sp>
      <p:sp>
        <p:nvSpPr>
          <p:cNvPr id="34" name="Text 25"/>
          <p:cNvSpPr/>
          <p:nvPr/>
        </p:nvSpPr>
        <p:spPr>
          <a:xfrm>
            <a:off x="6541275" y="3436758"/>
            <a:ext cx="1945500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Coordination ensures customers receive a single consolidated request.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99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29932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ANALYSIS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Van Lines is gaming the system. We are building an asset.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2034518"/>
            <a:ext cx="3714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COMPETITOR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2454213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663168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090" b="1" dirty="0">
                <a:solidFill>
                  <a:srgbClr val="F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1.5-star rating</a:t>
            </a: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1,600+ Yelp reviews. </a:t>
            </a: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actual customer satisfaction.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3277530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TACTIC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3486485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for artificial manipulation on Forbes and Grok to bury negative real-world feedback.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571500" y="4100847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RISK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4309802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vulnerable to FTC crackdowns ($53k per violation) and AI algorithm updates. It is a fragile house of cards.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857750" y="2034518"/>
            <a:ext cx="3714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STRATEGY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857750" y="2454213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857750" y="2663168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distinct brands with 100+ locations ready to capture genuine customer satisfaction at scale.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857750" y="3277530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TACTIC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857750" y="3486485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automated, </a:t>
            </a:r>
            <a:r>
              <a:rPr lang="en-US" sz="1090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FTC-compliant</a:t>
            </a: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that </a:t>
            </a: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actual happy customers into public </a:t>
            </a: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advocates.</a:t>
            </a:r>
            <a:endParaRPr lang="en-US" sz="1159" dirty="0"/>
          </a:p>
        </p:txBody>
      </p:sp>
      <p:sp>
        <p:nvSpPr>
          <p:cNvPr id="17" name="Text 14"/>
          <p:cNvSpPr/>
          <p:nvPr/>
        </p:nvSpPr>
        <p:spPr>
          <a:xfrm>
            <a:off x="4857750" y="4336591"/>
            <a:ext cx="3714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ADVANTAGE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857750" y="4545546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permanent, unshakeable entity authority that AI engines trust organically. Zero legal risk.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4932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COSTS AND ROI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Math: Low overhead, high leverage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1360159"/>
            <a:ext cx="3871913" cy="230564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60159"/>
            <a:ext cx="3871913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03034"/>
            <a:ext cx="35861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714375" y="1945946"/>
            <a:ext cx="20663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Build &amp; Integration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14375" y="2154901"/>
            <a:ext cx="20663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setup (CRM, Twilio, Routing)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673673" y="2015598"/>
            <a:ext cx="62686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$2,500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14375" y="2442437"/>
            <a:ext cx="20288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Infrastructure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14375" y="2651392"/>
            <a:ext cx="20288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(Zapier, Twilio SMS, Hosting)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479006" y="2512089"/>
            <a:ext cx="8215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 / mo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14375" y="2938928"/>
            <a:ext cx="189825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Card Budget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14375" y="3147882"/>
            <a:ext cx="18982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($15 per completed survey)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612631" y="2973753"/>
            <a:ext cx="168790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for Performance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4700588" y="1360159"/>
            <a:ext cx="3871913" cy="3261066"/>
          </a:xfrm>
          <a:prstGeom prst="rect">
            <a:avLst/>
          </a:prstGeom>
          <a:solidFill>
            <a:srgbClr val="00B4D8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00588" y="1360159"/>
            <a:ext cx="3871913" cy="28575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843463" y="1503034"/>
            <a:ext cx="35861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90-DAY ROI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4843463" y="1931659"/>
            <a:ext cx="17287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2436" dirty="0"/>
          </a:p>
        </p:txBody>
      </p:sp>
      <p:sp>
        <p:nvSpPr>
          <p:cNvPr id="21" name="Text 18"/>
          <p:cNvSpPr/>
          <p:nvPr/>
        </p:nvSpPr>
        <p:spPr>
          <a:xfrm>
            <a:off x="4843463" y="2317421"/>
            <a:ext cx="172878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Authentic Reviews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4843463" y="2724615"/>
            <a:ext cx="1728788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8F9F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across the 19 brands and 100+ Google Business Profile locations.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700838" y="1931659"/>
            <a:ext cx="17287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2436" dirty="0"/>
          </a:p>
        </p:txBody>
      </p:sp>
      <p:sp>
        <p:nvSpPr>
          <p:cNvPr id="24" name="Text 21"/>
          <p:cNvSpPr/>
          <p:nvPr/>
        </p:nvSpPr>
        <p:spPr>
          <a:xfrm>
            <a:off x="6700838" y="2317421"/>
            <a:ext cx="172878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SEO Visibility Bump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6700838" y="2724615"/>
            <a:ext cx="1728788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8F9F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review velocity is the #2 ranking factor for the Google Local Pack.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843463" y="3454673"/>
            <a:ext cx="35861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Dominance</a:t>
            </a:r>
            <a:endParaRPr lang="en-US" sz="2436" dirty="0"/>
          </a:p>
        </p:txBody>
      </p:sp>
      <p:sp>
        <p:nvSpPr>
          <p:cNvPr id="27" name="Text 24"/>
          <p:cNvSpPr/>
          <p:nvPr/>
        </p:nvSpPr>
        <p:spPr>
          <a:xfrm>
            <a:off x="4843463" y="3840435"/>
            <a:ext cx="35861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Ultimate Goal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4843463" y="4058320"/>
            <a:ext cx="35861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F8F9F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review volume feeds directly into ChatGPT and Perplexity recommendations.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45327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IMPLEMENTATION TIMELINE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approval to first automated review in 30 days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571500" y="1503034"/>
            <a:ext cx="457200" cy="457200"/>
          </a:xfrm>
          <a:prstGeom prst="rect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5030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103109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API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2603171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CRM to Agent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868913"/>
            <a:ext cx="1785938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all 100+ GBP locations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314672"/>
            <a:ext cx="1785938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Twilio/Email gateways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617459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71500" y="2883201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71500" y="3328960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2571750" y="1503034"/>
            <a:ext cx="457200" cy="457200"/>
          </a:xfrm>
          <a:prstGeom prst="rect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71750" y="15030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571750" y="2103109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&amp; TEMPLATES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2571750" y="2603171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1-10 routing logic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2571750" y="2868913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FTC-compliant copy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571750" y="3134655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gift card API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2571750" y="2617459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2571750" y="2883201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2571750" y="3148943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4572000" y="1503034"/>
            <a:ext cx="457200" cy="457200"/>
          </a:xfrm>
          <a:prstGeom prst="rect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15030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572000" y="2103109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WORDPRESS INTEGRATION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4572000" y="2603171"/>
            <a:ext cx="1785938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19 brand landing pages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4572000" y="3048930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disclosure text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572000" y="3314672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tracking dashboard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572000" y="2617459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4572000" y="3063218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572000" y="3328960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6572250" y="1503034"/>
            <a:ext cx="457200" cy="457200"/>
          </a:xfrm>
          <a:prstGeom prst="rect">
            <a:avLst/>
          </a:prstGeom>
          <a:solidFill>
            <a:srgbClr val="0A192F"/>
          </a:solidFill>
          <a:ln w="27432">
            <a:solidFill>
              <a:srgbClr val="00B4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72250" y="15030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6572250" y="2103109"/>
            <a:ext cx="1785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GO-LIVE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6572250" y="2603171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dummy testing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6572250" y="2868913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compliance review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6572250" y="3134655"/>
            <a:ext cx="1785938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on the agent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571500" y="4041577"/>
            <a:ext cx="8001000" cy="816173"/>
          </a:xfrm>
          <a:prstGeom prst="rect">
            <a:avLst/>
          </a:prstGeom>
          <a:solidFill>
            <a:srgbClr val="00B4D8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4041577"/>
            <a:ext cx="42863" cy="816173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7"/>
          <p:cNvSpPr/>
          <p:nvPr/>
        </p:nvSpPr>
        <p:spPr>
          <a:xfrm>
            <a:off x="6572250" y="2617459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6572250" y="2883201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6572250" y="3148943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785813" y="4184452"/>
            <a:ext cx="75723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2 &amp; BEYOND</a:t>
            </a:r>
            <a:endParaRPr lang="en-US" sz="987" dirty="0"/>
          </a:p>
        </p:txBody>
      </p:sp>
      <p:sp>
        <p:nvSpPr>
          <p:cNvPr id="44" name="Text 41"/>
          <p:cNvSpPr/>
          <p:nvPr/>
        </p:nvSpPr>
        <p:spPr>
          <a:xfrm>
            <a:off x="785813" y="4429125"/>
            <a:ext cx="7572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the Review Agent is live, we shift focus to the Social Media Automation Pipeline and AI Sales Assist, running concurrently while reviews generate on autopilot.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229314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LINE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43000"/>
            <a:ext cx="8001000" cy="1504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the portfolio. We have the 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strategy.</a:t>
            </a:r>
            <a:r>
              <a:rPr lang="en-US" sz="2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2755" b="1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we need the engine.</a:t>
            </a:r>
            <a:endParaRPr lang="en-US" sz="2755" dirty="0"/>
          </a:p>
        </p:txBody>
      </p:sp>
      <p:sp>
        <p:nvSpPr>
          <p:cNvPr id="5" name="Text 2"/>
          <p:cNvSpPr/>
          <p:nvPr/>
        </p:nvSpPr>
        <p:spPr>
          <a:xfrm>
            <a:off x="571500" y="3076082"/>
            <a:ext cx="24765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COMPLIANT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3318970"/>
            <a:ext cx="2476509" cy="50006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legal risk. Fully aligned with FTC regulations and Google's latest policies.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333759" y="3076082"/>
            <a:ext cx="24765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AUTOMATED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3333759" y="3318970"/>
            <a:ext cx="2476509" cy="50006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silently in the background across all 19 brands and 100+ locations.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096019" y="3076082"/>
            <a:ext cx="24765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ROI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096019" y="3318970"/>
            <a:ext cx="2476509" cy="50006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reviews = higher AI visibility = more booked moves.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3990482"/>
            <a:ext cx="8001000" cy="1000125"/>
          </a:xfrm>
          <a:prstGeom prst="rect">
            <a:avLst/>
          </a:prstGeom>
          <a:solidFill>
            <a:srgbClr val="00B4D8">
              <a:alpha val="10000"/>
            </a:srgbClr>
          </a:solidFill>
          <a:ln w="18288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4204795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4411963"/>
            <a:ext cx="8001000" cy="391120"/>
          </a:xfrm>
          <a:prstGeom prst="rect">
            <a:avLst/>
          </a:prstGeom>
          <a:noFill/>
          <a:ln/>
        </p:spPr>
        <p:txBody>
          <a:bodyPr wrap="none" lIns="0" tIns="136017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implementation budget to begin Week 1 on Monday.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2026-03-27T21:24:25Z</dcterms:created>
  <dcterms:modified xsi:type="dcterms:W3CDTF">2026-03-27T21:24:25Z</dcterms:modified>
</cp:coreProperties>
</file>